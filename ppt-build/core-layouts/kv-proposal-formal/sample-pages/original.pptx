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17145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0" cy="2743200"/>
          </a:xfrm>
          <a:prstGeom prst="rtTriangle">
            <a:avLst/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 flipH="1" flipV="1">
            <a:off x="9448495" y="4114800"/>
            <a:ext cx="2743200" cy="2743200"/>
          </a:xfrm>
          <a:prstGeom prst="rtTriangle">
            <a:avLst/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1371600" y="13716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AAAA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合興工業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371600" y="196596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推動提案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1371600" y="3154680"/>
            <a:ext cx="4572000" cy="0"/>
          </a:xfrm>
          <a:prstGeom prst="line">
            <a:avLst/>
          </a:prstGeom>
          <a:noFill/>
          <a:ln w="38100">
            <a:solidFill>
              <a:srgbClr val="C4D6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1371600" y="333756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4D6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方案一｜AI 應用培訓方案（27H）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374904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ACC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方案二｜AI 戰略落地方案（140.5H）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371600" y="4251960"/>
            <a:ext cx="4572000" cy="0"/>
          </a:xfrm>
          <a:prstGeom prst="line">
            <a:avLst/>
          </a:prstGeom>
          <a:noFill/>
          <a:ln w="12700">
            <a:solidFill>
              <a:srgbClr val="44446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1371600" y="4389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AAA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提案方：智谷網絡｜亞太教育訓練網（Kvalley）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71600" y="47548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88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民國 115 年 5 月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698480" y="1828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10698480" y="182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155680" y="20116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智谷網絡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155680" y="402336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Since 1996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目錄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of Contents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698480" y="1828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10698480" y="182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155680" y="20116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智谷網絡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155680" y="402336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Since 1996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280160"/>
            <a:ext cx="548640" cy="457200"/>
          </a:xfrm>
          <a:prstGeom prst="rect">
            <a:avLst/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457200" y="12801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Ch.1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11887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計畫緣起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789920" y="11887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P.3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1847088"/>
            <a:ext cx="112471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457200" y="1993392"/>
            <a:ext cx="548640" cy="457200"/>
          </a:xfrm>
          <a:prstGeom prst="rect">
            <a:avLst/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457200" y="199339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Ch.2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88720" y="1901952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合興 AI 應用機會地圖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789920" y="190195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P.5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2560320"/>
            <a:ext cx="112471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457200" y="2706624"/>
            <a:ext cx="548640" cy="457200"/>
          </a:xfrm>
          <a:prstGeom prst="rect">
            <a:avLst/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457200" y="2706624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Ch.3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88720" y="2615184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兩種方案對照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0789920" y="2615184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P.8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57200" y="3273552"/>
            <a:ext cx="112471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2"/>
          <p:cNvSpPr/>
          <p:nvPr/>
        </p:nvSpPr>
        <p:spPr>
          <a:xfrm>
            <a:off x="457200" y="3419856"/>
            <a:ext cx="548640" cy="457200"/>
          </a:xfrm>
          <a:prstGeom prst="rect">
            <a:avLst/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457200" y="341985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Ch.4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88720" y="3328416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方案一｜AI 應用培訓方案（27H）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0789920" y="3328416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P.10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57200" y="3986784"/>
            <a:ext cx="112471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Shape 27"/>
          <p:cNvSpPr/>
          <p:nvPr/>
        </p:nvSpPr>
        <p:spPr>
          <a:xfrm>
            <a:off x="457200" y="4133088"/>
            <a:ext cx="548640" cy="457200"/>
          </a:xfrm>
          <a:prstGeom prst="rect">
            <a:avLst/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8"/>
          <p:cNvSpPr/>
          <p:nvPr/>
        </p:nvSpPr>
        <p:spPr>
          <a:xfrm>
            <a:off x="457200" y="413308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Ch.5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188720" y="404164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方案二｜AI 戰略落地方案（140.5H）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10789920" y="4041648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P.20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57200" y="4700016"/>
            <a:ext cx="112471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Shape 32"/>
          <p:cNvSpPr/>
          <p:nvPr/>
        </p:nvSpPr>
        <p:spPr>
          <a:xfrm>
            <a:off x="457200" y="4846320"/>
            <a:ext cx="548640" cy="457200"/>
          </a:xfrm>
          <a:prstGeom prst="rect">
            <a:avLst/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5" name="Text 33"/>
          <p:cNvSpPr/>
          <p:nvPr/>
        </p:nvSpPr>
        <p:spPr>
          <a:xfrm>
            <a:off x="457200" y="48463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Ch.6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188720" y="475488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智谷三大實戰教具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10789920" y="475488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P.29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57200" y="5413248"/>
            <a:ext cx="112471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Shape 37"/>
          <p:cNvSpPr/>
          <p:nvPr/>
        </p:nvSpPr>
        <p:spPr>
          <a:xfrm>
            <a:off x="457200" y="5559552"/>
            <a:ext cx="548640" cy="457200"/>
          </a:xfrm>
          <a:prstGeom prst="rect">
            <a:avLst/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0" name="Text 38"/>
          <p:cNvSpPr/>
          <p:nvPr/>
        </p:nvSpPr>
        <p:spPr>
          <a:xfrm>
            <a:off x="457200" y="555955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Ch.7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188720" y="5468112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智谷實戰案例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10789920" y="546811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P.33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57200" y="6126480"/>
            <a:ext cx="112471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4" name="Text 42"/>
          <p:cNvSpPr/>
          <p:nvPr/>
        </p:nvSpPr>
        <p:spPr>
          <a:xfrm>
            <a:off x="11338560" y="656539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35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2286000"/>
          </a:xfrm>
          <a:prstGeom prst="rtTriangle">
            <a:avLst/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 flipH="1" flipV="1">
            <a:off x="9905695" y="4572000"/>
            <a:ext cx="2286000" cy="2286000"/>
          </a:xfrm>
          <a:prstGeom prst="rtTriangle">
            <a:avLst/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1371600" y="210312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0" b="1" dirty="0">
                <a:solidFill>
                  <a:srgbClr val="C4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Ch.1</a:t>
            </a:r>
            <a:endParaRPr lang="en-US" sz="160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計畫緣起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Background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71600" y="4572000"/>
            <a:ext cx="3657600" cy="0"/>
          </a:xfrm>
          <a:prstGeom prst="line">
            <a:avLst/>
          </a:prstGeom>
          <a:noFill/>
          <a:ln w="25400">
            <a:solidFill>
              <a:srgbClr val="C4D6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1371600" y="47548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為何需要 AI？智谷提供兩種路徑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0698480" y="1828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10698480" y="182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155680" y="20116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智谷網絡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155680" y="402336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Since 1996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338560" y="656539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35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0"/>
            <a:ext cx="5059375" cy="685800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7132320" y="1828800"/>
            <a:ext cx="5059375" cy="73152"/>
          </a:xfrm>
          <a:prstGeom prst="rect">
            <a:avLst/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7406640" y="2743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4D6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計畫緣起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406640" y="822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Background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406640" y="2240280"/>
            <a:ext cx="146304" cy="146304"/>
          </a:xfrm>
          <a:prstGeom prst="ellipse">
            <a:avLst/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7680960" y="210312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全球企業 AI 應用加速，製造業面臨轉型壓力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406640" y="3017520"/>
            <a:ext cx="146304" cy="146304"/>
          </a:xfrm>
          <a:prstGeom prst="ellipse">
            <a:avLst/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7680960" y="288036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員工日常工作中大量重複性任務可由 AI 輔助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406640" y="3794760"/>
            <a:ext cx="146304" cy="146304"/>
          </a:xfrm>
          <a:prstGeom prst="ellipse">
            <a:avLst/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7680960" y="365760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競爭對手導入 AI 後效率提升，形成競爭落差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406640" y="4572000"/>
            <a:ext cx="146304" cy="146304"/>
          </a:xfrm>
          <a:prstGeom prst="ellipse">
            <a:avLst/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7680960" y="443484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合興具備跨部門推動 AI 的組織條件與意願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502920"/>
            <a:ext cx="91440" cy="685800"/>
          </a:xfrm>
          <a:prstGeom prst="rect">
            <a:avLst/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685800" y="347472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智谷提供兩種路徑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85800" y="850392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Service Options for Hexin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698480" y="1828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10698480" y="182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1155680" y="20116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智谷網絡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155680" y="402336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Since 1996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" y="132588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依合興組織當下的需求與節奏，選擇最適配的推動方式：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1828800"/>
            <a:ext cx="6217920" cy="2011680"/>
          </a:xfrm>
          <a:prstGeom prst="rect">
            <a:avLst/>
          </a:prstGeom>
          <a:solidFill>
            <a:srgbClr val="F5F5F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457200" y="1828800"/>
            <a:ext cx="6217920" cy="502920"/>
          </a:xfrm>
          <a:prstGeom prst="rect">
            <a:avLst/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/>
          <p:nvPr/>
        </p:nvSpPr>
        <p:spPr>
          <a:xfrm>
            <a:off x="640080" y="1828800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方案一｜AI 應用培訓方案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40080" y="237744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純培訓  ·  A1–A5 五門課  ·  約 27H  ·  4 個月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" y="2788920"/>
            <a:ext cx="5760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聚焦員工個人 AI 應用能力的快速建立，適合希望先看到培訓成效、再決定後續深化方式的組織。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4023360"/>
            <a:ext cx="6217920" cy="2286000"/>
          </a:xfrm>
          <a:prstGeom prst="rect">
            <a:avLst/>
          </a:prstGeom>
          <a:solidFill>
            <a:srgbClr val="F5F5F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8" name="Shape 26"/>
          <p:cNvSpPr/>
          <p:nvPr/>
        </p:nvSpPr>
        <p:spPr>
          <a:xfrm>
            <a:off x="457200" y="4023360"/>
            <a:ext cx="6217920" cy="50292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/>
          <p:nvPr/>
        </p:nvSpPr>
        <p:spPr>
          <a:xfrm>
            <a:off x="640080" y="4023360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方案二｜AI 戰略落地方案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640080" y="457200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9C2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培訓 + 諮詢 + 陪跑  ·  140.5H  ·  12 個月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40080" y="4983480"/>
            <a:ext cx="5760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從共識建立到部門 Workout 機制落地，建立組織級 AI 推動能力，讓 AI 改善成為日常運作的一部分。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1338560" y="656539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35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2286000"/>
          </a:xfrm>
          <a:prstGeom prst="rtTriangle">
            <a:avLst/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 flipH="1" flipV="1">
            <a:off x="9905695" y="4572000"/>
            <a:ext cx="2286000" cy="2286000"/>
          </a:xfrm>
          <a:prstGeom prst="rtTriangle">
            <a:avLst/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1371600" y="210312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0" b="1" dirty="0">
                <a:solidFill>
                  <a:srgbClr val="C4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Ch.2</a:t>
            </a:r>
            <a:endParaRPr lang="en-US" sz="160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合興 AI 應用機會地圖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Opportunity Map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71600" y="4572000"/>
            <a:ext cx="3657600" cy="0"/>
          </a:xfrm>
          <a:prstGeom prst="line">
            <a:avLst/>
          </a:prstGeom>
          <a:noFill/>
          <a:ln w="25400">
            <a:solidFill>
              <a:srgbClr val="C4D6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1371600" y="47548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從部門出發，找出最有價值的 AI 切入點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0698480" y="1828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10698480" y="182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155680" y="20116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智谷網絡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155680" y="402336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Since 1996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338560" y="656539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35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91440" cy="685800"/>
          </a:xfrm>
          <a:prstGeom prst="rect">
            <a:avLst/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85800" y="347472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廠務部門 AI 應用場景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850392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 Operations — AI Use Cases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698480" y="1828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10698480" y="182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155680" y="20116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智谷網絡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155680" y="402336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Since 1996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47120" cy="475488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A1A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部門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D6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A1A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高價值 AI 應用場景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D6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A1A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AI 能力類型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D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製造一/二/三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移工語言翻譯（中文 SOP → 越/印/泰）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Transform / Write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採購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供應商報價彙整比較表、異常識別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Extract / Research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生管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排程異動跨部門通知自動化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Write / Integrate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技研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技術文件英譯、專利說明初稿生成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Write / Transform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品保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8D 報告初稿生成、品檢趨勢摘要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Write / Extract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製程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製程 SOP 整理結構化、異常紀錄摘要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Store / Extract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廠務統籌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跨部門進度彙整、會議錄音轉摘要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Listen / Research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Phase 3+ 進入地端 LLM 後，敏感製程資料改由地端處理，資安等級另行評估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338560" y="656539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35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91440" cy="685800"/>
          </a:xfrm>
          <a:prstGeom prst="rect">
            <a:avLst/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85800" y="347472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行銷中心 / 行政中心 / 總經理室 AI 應用場景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850392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Marketing, Admin &amp; Executive — AI Use Cases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698480" y="1828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10698480" y="182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155680" y="20116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智谷網絡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155680" y="402336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Since 1996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47120" cy="4608576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A1A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部門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D6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A1A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高價值 AI 應用場景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D6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A1A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AI 能力類型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D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行銷企劃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產品介紹簡報快速生成、展會素材文案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Write / Draw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國外業務一/二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客戶英文回信草稿、詢價/客訴回應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Write / Research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人事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招募信件撰寫、訓練教材整理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Write / Extract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財務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報表趨勢摘要、稽核資料準備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Extract / Research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總務 / IT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採購比較分析、公文處理、SOP 整理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Extract / Store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總經理室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跨部門進度彙整、主管簡報摘要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Extract / Write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11338560" y="656539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35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2286000"/>
          </a:xfrm>
          <a:prstGeom prst="rtTriangle">
            <a:avLst/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 flipH="1" flipV="1">
            <a:off x="9905695" y="4572000"/>
            <a:ext cx="2286000" cy="2286000"/>
          </a:xfrm>
          <a:prstGeom prst="rtTriangle">
            <a:avLst/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1371600" y="210312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0" b="1" dirty="0">
                <a:solidFill>
                  <a:srgbClr val="C4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Ch.3</a:t>
            </a:r>
            <a:endParaRPr lang="en-US" sz="160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兩種方案對照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Options Comparison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71600" y="4572000"/>
            <a:ext cx="3657600" cy="0"/>
          </a:xfrm>
          <a:prstGeom prst="line">
            <a:avLst/>
          </a:prstGeom>
          <a:noFill/>
          <a:ln w="25400">
            <a:solidFill>
              <a:srgbClr val="C4D6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1371600" y="47548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選哪個方案？一張表看清楚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0698480" y="1828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10698480" y="182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155680" y="20116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智谷網絡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155680" y="402336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Since 1996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338560" y="656539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35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48640" y="1371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兩種方案對照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Options Comparison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698480" y="1828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10698480" y="182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155680" y="20116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智谷網絡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155680" y="402336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Since 1996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11247120" cy="5102352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AAAAA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比較維度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A1A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方案一｜AI 應用培訓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D6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方案二｜AI 戰略落地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戰略定位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員工個人 AI 應用能力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組織級 AI 推動能力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服務性質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純培訓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諮詢主導 + 培訓搭配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影響層次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員工個人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組織機制與資產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顧問投入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約 27 H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約 140.5 H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期程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約 4 個月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12 個月（做到 Level 2）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適合時機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先看培訓成效，再決定深化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一次到位，建立組織自轉能力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回答的問題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員工會不會用 AI？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組織能不能持續推動 AI？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延伸性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可作為方案二的前置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含完整兩階段路徑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Text 7"/>
          <p:cNvSpPr/>
          <p:nvPr/>
        </p:nvSpPr>
        <p:spPr>
          <a:xfrm>
            <a:off x="11338560" y="656539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35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2286000"/>
          </a:xfrm>
          <a:prstGeom prst="rtTriangle">
            <a:avLst/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 flipH="1" flipV="1">
            <a:off x="9905695" y="4572000"/>
            <a:ext cx="2286000" cy="2286000"/>
          </a:xfrm>
          <a:prstGeom prst="rtTriangle">
            <a:avLst/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1371600" y="210312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0" b="1" dirty="0">
                <a:solidFill>
                  <a:srgbClr val="C4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Ch.4</a:t>
            </a:r>
            <a:endParaRPr lang="en-US" sz="160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方案一｜AI 應用培訓方案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A — AI Training Program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71600" y="4572000"/>
            <a:ext cx="3657600" cy="0"/>
          </a:xfrm>
          <a:prstGeom prst="line">
            <a:avLst/>
          </a:prstGeom>
          <a:noFill/>
          <a:ln w="25400">
            <a:solidFill>
              <a:srgbClr val="C4D6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1371600" y="47548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純培訓  ·  A1–A5 五門課  ·  約 27H  ·  4 個月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0698480" y="1828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10698480" y="182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155680" y="20116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智谷網絡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155680" y="402336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Since 1996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338560" y="656539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35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91440" cy="685800"/>
          </a:xfrm>
          <a:prstGeom prst="rect">
            <a:avLst/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85800" y="347472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方案一 計畫說明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850392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A — Overview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698480" y="1828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10698480" y="182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155680" y="20116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智谷網絡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155680" y="402336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Since 1996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5577840" cy="2194560"/>
          </a:xfrm>
          <a:prstGeom prst="rect">
            <a:avLst/>
          </a:prstGeom>
          <a:solidFill>
            <a:srgbClr val="F5F5F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457200" y="1417320"/>
            <a:ext cx="5577840" cy="502920"/>
          </a:xfrm>
          <a:prstGeom prst="rect">
            <a:avLst/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640080" y="141732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期程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0080" y="1965960"/>
            <a:ext cx="5212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4 個月（依合興實際排程調整）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0" y="1417320"/>
            <a:ext cx="5577840" cy="2194560"/>
          </a:xfrm>
          <a:prstGeom prst="rect">
            <a:avLst/>
          </a:prstGeom>
          <a:solidFill>
            <a:srgbClr val="F5F5F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6400800" y="1417320"/>
            <a:ext cx="5577840" cy="502920"/>
          </a:xfrm>
          <a:prstGeom prst="rect">
            <a:avLst/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6583680" y="141732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對象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583680" y="1965960"/>
            <a:ext cx="5212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A1 高階主管 / A2 全員 / A3 培訓對象 / A4 部門主管 / A5 種子人員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3886200"/>
            <a:ext cx="5577840" cy="2194560"/>
          </a:xfrm>
          <a:prstGeom prst="rect">
            <a:avLst/>
          </a:prstGeom>
          <a:solidFill>
            <a:srgbClr val="F5F5F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457200" y="3886200"/>
            <a:ext cx="5577840" cy="502920"/>
          </a:xfrm>
          <a:prstGeom prst="rect">
            <a:avLst/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640080" y="38862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形式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40080" y="4434840"/>
            <a:ext cx="5212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實體授課為主（部分課程可遠距同步）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00800" y="3886200"/>
            <a:ext cx="5577840" cy="2194560"/>
          </a:xfrm>
          <a:prstGeom prst="rect">
            <a:avLst/>
          </a:prstGeom>
          <a:solidFill>
            <a:srgbClr val="F5F5F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6400800" y="3886200"/>
            <a:ext cx="5577840" cy="502920"/>
          </a:xfrm>
          <a:prstGeom prst="rect">
            <a:avLst/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6583680" y="38862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性質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583680" y="4434840"/>
            <a:ext cx="5212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純培訓方案 — 無顧問諮詢、無部門陪跑，聚焦員工個人能力建立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全案顧問投入：約 27 H（含 A1–A5 五門課程授課時數）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338560" y="656539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35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91440" cy="685800"/>
          </a:xfrm>
          <a:prstGeom prst="rect">
            <a:avLst/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85800" y="347472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模組｜五門課程一覽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850392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Courses A1 – A5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698480" y="1828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10698480" y="182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155680" y="20116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智谷網絡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155680" y="402336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Since 1996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47120" cy="4279392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A1A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編號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D6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A1A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課程名稱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D6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A1A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時數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D6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A1A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培訓對象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D6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A1A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課程順序與目的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D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A1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高階主管 AI 演講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 H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各部門主管 / 廠長層（15-20 人）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啟蒙主管層，建立推動 AI 的共識與意願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A2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AIGC 陪你飛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 H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合興全員（含產線管理層）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全員啟蒙，讓每位員工對 AI 工具有初步認識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A3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AI 指令工作術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 H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AI 培訓對象（約 30 人）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培訓對象工具上手，兩週實作驗證應用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A4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主管課：智能時代如何帶領部門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 H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部門主管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主管掌握帶領團隊使用 AI 的方法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A5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種子實戰課：把工作痛點變 AI 題目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12 H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種子人員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種子產出 GRD 計分卡，具備主持 Workout 能力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635508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課程順序：A1 主管啟蒙 → A2 全員啟蒙 → A3 工具上手 → A4 主管管理術 → A5 種子改善力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1338560" y="656539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35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4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280160" y="109728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高階主管 AI 演講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515600" y="256032"/>
            <a:ext cx="1554480" cy="548640"/>
          </a:xfrm>
          <a:prstGeom prst="rect">
            <a:avLst/>
          </a:prstGeom>
          <a:solidFill>
            <a:srgbClr val="F09C2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10515600" y="256032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小時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1 最關鍵啟蒙活動。Jimmy 親自主講，協助主管層對合興 AI 落地建立具體想像與變革意願。</a:t>
            </a:r>
            <a:endParaRPr lang="en-US" sz="1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65960"/>
          <a:ext cx="11247120" cy="333756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1A1A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單元主題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9C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1A1A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內容說明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9C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1A1A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手法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9C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1A1A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時間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9C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A1A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一、AI 落地的真實困局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• 台灣製造業 AI 推動現況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• AI 落地常見瓶頸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• 合興的 AI 擴展機會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講演法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 min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A1A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二、AI 應用三層演進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• 點：單一場景 AI 應用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• 線：串起工作流程的 AI 協作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• 面：跨部門 / 組織級 AI 運作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主講 + 實例走讀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40 min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A1A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三、現場體驗：AI Capability Cards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• 17 張能力卡介紹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• 主管分組抽卡、配對部門業務情境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• 產出 AI 改善題目雛形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小組互動 + 體驗式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40 min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A1A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四、主管下一步 + Q&amp;A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• 後續計畫預告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• 各部門推動方向初步討論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主講 + Q&amp;A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 min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10698480" y="1828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7"/>
          <p:cNvSpPr/>
          <p:nvPr/>
        </p:nvSpPr>
        <p:spPr>
          <a:xfrm>
            <a:off x="10698480" y="182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1155680" y="20116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智谷網絡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1155680" y="402336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Since 1996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338560" y="656539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35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4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280160" y="109728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AIGC 陪你飛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515600" y="256032"/>
            <a:ext cx="1554480" cy="548640"/>
          </a:xfrm>
          <a:prstGeom prst="rect">
            <a:avLst/>
          </a:prstGeom>
          <a:solidFill>
            <a:srgbClr val="F09C2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10515600" y="256032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小時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全員啟蒙講座。先有感、再上手。透過產業案例分享、工具大觀園導覽與現場體驗活動，建立全員 AI 應用初步想像。</a:t>
            </a:r>
            <a:endParaRPr lang="en-US" sz="1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65960"/>
          <a:ext cx="11247120" cy="333756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1A1A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單元主題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9C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1A1A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內容說明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9C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1A1A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手法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9C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1A1A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時間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9C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A1A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一、AI 為何重要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• 全球與台灣 AIGC 應用現況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• AI 對製造業工作的影響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• 同業 AI 應用案例分享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講演法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30 min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A1A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二、AIGC 工具大觀園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• 文字 / 圖像 / 影音 / 簡報生成工具導覽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• Claude、Gemini、Gamma 等工具比較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• 合興最可能用到的工具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講師演示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45 min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A1A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三、現場 AI 體驗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• 手機 / 電腦同步操作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• 從工作場景出發練習提問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• 分組分享體驗成果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體驗式學習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60 min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A1A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四、AI 學習路徑 + Q&amp;A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• 個人 AI 能力發展四階段說明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• 結業交件說明（課堂體驗成果）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Q&amp;A 互動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25 min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10698480" y="1828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7"/>
          <p:cNvSpPr/>
          <p:nvPr/>
        </p:nvSpPr>
        <p:spPr>
          <a:xfrm>
            <a:off x="10698480" y="182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1155680" y="20116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智谷網絡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1155680" y="402336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Since 1996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338560" y="656539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35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4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280160" y="109728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指令工作術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515600" y="256032"/>
            <a:ext cx="1554480" cy="548640"/>
          </a:xfrm>
          <a:prstGeom prst="rect">
            <a:avLst/>
          </a:prstGeom>
          <a:solidFill>
            <a:srgbClr val="F09C2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10515600" y="256032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 小時（兩次 × 3H，含兩週課間實作）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針對 AI 培訓對象（約 30 人）深化工具應用，從 Prompt 設計到真實工作問題解決，課後顧問批閱兩週實作作業。</a:t>
            </a:r>
            <a:endParaRPr lang="en-US" sz="1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65960"/>
          <a:ext cx="11247120" cy="288036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1A1A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單元主題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9C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1A1A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內容說明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9C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1A1A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手法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9C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1A1A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時間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9C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A1A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一、Prompt 設計六欄位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• 角色 / 任務 / 格式 / 語氣 / 範例 / 限制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• Prompt 卡牌教具操作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• 合興工作情境練習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上機實作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60 min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A1A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二、文件處理 AI 應用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• 報告摘要 / 翻譯 / 格式轉換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• 使用真實合興文件素材演練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工作表演練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60 min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A1A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三、工作流程 AI 診斷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• 找出自己工作中可 AI 化的環節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• 使用 AI Capability Cards 配對痛點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小組討論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40 min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A1A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四、兩週實作說明 + Q&amp;A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• 作業說明：一個真實工作問題 + 5 條 Prompt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• 顧問批閱機制說明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Q&amp;A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 min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10698480" y="1828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7"/>
          <p:cNvSpPr/>
          <p:nvPr/>
        </p:nvSpPr>
        <p:spPr>
          <a:xfrm>
            <a:off x="10698480" y="182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1155680" y="20116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智谷網絡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1155680" y="402336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Since 1996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338560" y="656539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35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4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280160" y="109728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主管課：智能時代如何帶領部門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515600" y="256032"/>
            <a:ext cx="1554480" cy="548640"/>
          </a:xfrm>
          <a:prstGeom prst="rect">
            <a:avLst/>
          </a:prstGeom>
          <a:solidFill>
            <a:srgbClr val="F09C2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10515600" y="256032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小時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協助部門主管在 AI 時代扮演對的角色：不只自己會用 AI，更要能帶領團隊用 AI 產出成效。</a:t>
            </a:r>
            <a:endParaRPr lang="en-US" sz="1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65960"/>
          <a:ext cx="11247120" cy="288036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1A1A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單元主題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9C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1A1A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內容說明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9C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1A1A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手法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9C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1A1A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時間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9C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A1A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一、AI 時代主管的新角色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• 主管需要什麼 AI 能力？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• 你的部門最值得切入的 AI 場景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講演 + 案例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50 min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A1A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二、帶領團隊使用 AI 的方法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• 如何給部屬 AI 學習任務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• 如何評估 AI 應用成效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• GRD 計分卡概念介紹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小組演練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60 min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A1A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三、主管 AI 應用實戰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• Claude / Gemini 情境練習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• 主管報告摘要 / 決策分析應用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上機實作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60 min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A1A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四、30 天行動承諾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• 個人 30 天行動承諾卡簽署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• 部門 KPI 校準工作表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工作表演練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30 min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10698480" y="1828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7"/>
          <p:cNvSpPr/>
          <p:nvPr/>
        </p:nvSpPr>
        <p:spPr>
          <a:xfrm>
            <a:off x="10698480" y="182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1155680" y="20116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智谷網絡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1155680" y="402336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Since 1996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338560" y="656539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35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4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280160" y="109728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種子實戰課：把工作痛點變成 AI 改善題目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515600" y="256032"/>
            <a:ext cx="1554480" cy="548640"/>
          </a:xfrm>
          <a:prstGeom prst="rect">
            <a:avLst/>
          </a:prstGeom>
          <a:solidFill>
            <a:srgbClr val="F09C2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10515600" y="256032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 小時（1.5 天）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種子人員最密集的能力培育。結訓產出一張部門 GRD 計分卡，並完成 Workout 主持模擬演練。</a:t>
            </a:r>
            <a:endParaRPr lang="en-US" sz="1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65960"/>
          <a:ext cx="11247120" cy="388620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1A1A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單元主題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9C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1A1A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內容說明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9C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1A1A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手法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9C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1A1A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時間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9C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A1A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一、AI 改善題目怎麼找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• 用 AI Capability Cards 盤點部門痛點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• 題目模板：「把 [痛點] 交給 AI 的 [能力]…」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• 阻力卡壓力測試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卡牌工作坊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90 min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A1A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二、GRD 計分卡實作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• GRD 七欄位填寫（題目/KPI/目標值/時程）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• 採購部範例走讀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• 各組產出本部門 GRD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工作表演練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90 min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A1A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三、AI 工具深度應用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• Claude Projects 情境隔離操作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• 自動化報告生成、資料整理演練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上機實作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90 min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A1A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四、Workout 主持模擬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• Workout 議程設計演練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• 模擬主持雙週 Workout 一場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• 互評 + 顧問回饋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角色扮演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60 min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A1A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五、結訓 + 下一步說明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• GRD 計分卡繳交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• 方案二 Workout 機制說明（如適用）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Q&amp;A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30 min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10698480" y="1828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7"/>
          <p:cNvSpPr/>
          <p:nvPr/>
        </p:nvSpPr>
        <p:spPr>
          <a:xfrm>
            <a:off x="10698480" y="182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1155680" y="20116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智谷網絡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1155680" y="402336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Since 1996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338560" y="656539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35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91440" cy="685800"/>
          </a:xfrm>
          <a:prstGeom prst="rect">
            <a:avLst/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85800" y="347472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課程報價內含項目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850392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Included in Course Fee — No Extra Charge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698480" y="1828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10698480" y="182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155680" y="20116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智谷網絡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155680" y="402336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Since 1996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2984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以下服務屬每門課程的標準準備與評估，含於課程鐘點費，不另計顧問時數。</a:t>
            </a:r>
            <a:endParaRPr lang="en-US" sz="15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11247120" cy="51206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03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1A1A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D6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1A1A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說明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D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課前訪談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與 HR / 用訓主管對焦課程客製方向、確認培訓對象特性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學員需求摸底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A2–A5 培訓對象個別訪談（每位約 25 分鐘），蒐集真實工作情境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真實素材蒐集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蒐集合興真實工作文件作為課程實作教材（報價單 / 報表 / 公文等）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A3 課間實作批閱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A3 兩週實作期間，顧問批閱學員作業並提供個人化回饋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課程結業評估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A1–A5 每門課結業評估（量表 + 實作作業），結果進入個人能力檔案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AI 能力前測 + 後測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A2 開課前線上前測、A5 結訓後線上後測，建立個人能力基線與對照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教材印製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學員手冊 + 課程教材印製，含 AI Capability Cards 教具提供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11338560" y="656539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35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91440" cy="685800"/>
          </a:xfrm>
          <a:prstGeom prst="rect">
            <a:avLst/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85800" y="347472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能力評鑑體系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850392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Capability Assessment Framework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698480" y="1828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10698480" y="182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155680" y="20116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智谷網絡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155680" y="402336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Since 1996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298448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本案不只「上課」—— 每位學員的 AI 能力在培訓前後均有量化追蹤。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1828800"/>
            <a:ext cx="3474720" cy="1645920"/>
          </a:xfrm>
          <a:prstGeom prst="rect">
            <a:avLst/>
          </a:prstGeom>
          <a:solidFill>
            <a:srgbClr val="3F7FB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685800" y="18745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培訓前測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85800" y="24231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A2 開課前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278892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線上問卷建立每位學員 AI 能力基線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041648" y="237744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389120" y="1828800"/>
            <a:ext cx="3474720" cy="1645920"/>
          </a:xfrm>
          <a:prstGeom prst="rect">
            <a:avLst/>
          </a:prstGeom>
          <a:solidFill>
            <a:srgbClr val="F09C2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4526280" y="18745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課程結業評估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26280" y="24231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A1–A5 各課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26280" y="278892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量表 + 實作作業，即時檢核學習成效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882128" y="237744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8229600" y="1828800"/>
            <a:ext cx="3474720" cy="1645920"/>
          </a:xfrm>
          <a:prstGeom prst="rect">
            <a:avLst/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8366760" y="18745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培訓後測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366760" y="24231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A5 結訓後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366760" y="278892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線上問卷 + 對照前測 + 個人能力檔案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3703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評鑑框架：五大能力 × L1–L6 層次</a:t>
            </a:r>
            <a:endParaRPr lang="en-US" sz="17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160520"/>
          <a:ext cx="5303520" cy="2304288"/>
        </p:xfrm>
        <a:graphic>
          <a:graphicData uri="http://schemas.openxmlformats.org/drawingml/2006/table">
            <a:tbl>
              <a:tblPr/>
              <a:tblGrid>
                <a:gridCol w="5303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A1A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五大能力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提示力 — Prompt 設計與精準提問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數據力 — 用 AI 處理報表與文件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工具力 — 跨工具串接與選型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流程力 — 工作流診斷與設計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AI 自主力 — 讓 AI 主動執行任務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4160520"/>
          <a:ext cx="5760720" cy="2688336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A1A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層次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A1A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描述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L1 會問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能對 AI 發出指令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L2 會拆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把複雜問題分解、AI 分段處理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L3 會串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結合多個 AI 工具完成任務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L4 會設計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規劃 AI 輔助的工作流程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L5 會自動化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流程自動跑、減少人工介入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L6 會指揮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指揮 AI 自主完成任務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7" name="Text 23"/>
          <p:cNvSpPr/>
          <p:nvPr/>
        </p:nvSpPr>
        <p:spPr>
          <a:xfrm>
            <a:off x="11338560" y="656539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35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2286000"/>
          </a:xfrm>
          <a:prstGeom prst="rtTriangle">
            <a:avLst/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 flipH="1" flipV="1">
            <a:off x="9905695" y="4572000"/>
            <a:ext cx="2286000" cy="2286000"/>
          </a:xfrm>
          <a:prstGeom prst="rtTriangle">
            <a:avLst/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1371600" y="210312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0" b="1" dirty="0">
                <a:solidFill>
                  <a:srgbClr val="C4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Ch.5</a:t>
            </a:r>
            <a:endParaRPr lang="en-US" sz="160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方案二｜AI 戰略落地方案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B — AI Strategic Deployment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71600" y="4572000"/>
            <a:ext cx="3657600" cy="0"/>
          </a:xfrm>
          <a:prstGeom prst="line">
            <a:avLst/>
          </a:prstGeom>
          <a:noFill/>
          <a:ln w="25400">
            <a:solidFill>
              <a:srgbClr val="C4D6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1371600" y="47548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培訓 + 諮詢 + 陪跑  ·  12 個月  ·  140.5H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0698480" y="1828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10698480" y="182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155680" y="20116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智谷網絡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155680" y="402336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Since 1996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338560" y="656539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35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91440" cy="685800"/>
          </a:xfrm>
          <a:prstGeom prst="rect">
            <a:avLst/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85800" y="347472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方案二 計畫說明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850392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B — Overview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698480" y="1828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10698480" y="182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155680" y="20116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智谷網絡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155680" y="402336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Since 1996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5577840" cy="2148840"/>
          </a:xfrm>
          <a:prstGeom prst="rect">
            <a:avLst/>
          </a:prstGeom>
          <a:solidFill>
            <a:srgbClr val="F5F5F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457200" y="1417320"/>
            <a:ext cx="5577840" cy="50292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640080" y="141732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戰略目標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0080" y="1984248"/>
            <a:ext cx="52120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建立組織級 AI 推動能力，從員工個人能力轉化為部門集體改善成效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0" y="1417320"/>
            <a:ext cx="5577840" cy="2148840"/>
          </a:xfrm>
          <a:prstGeom prst="rect">
            <a:avLst/>
          </a:prstGeom>
          <a:solidFill>
            <a:srgbClr val="F5F5F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6400800" y="1417320"/>
            <a:ext cx="5577840" cy="50292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6583680" y="141732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期程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583680" y="1984248"/>
            <a:ext cx="52120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 個月（Phase 1 約第 1-4 月 + Phase 2 約第 5-12 月）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3840480"/>
            <a:ext cx="5577840" cy="2148840"/>
          </a:xfrm>
          <a:prstGeom prst="rect">
            <a:avLst/>
          </a:prstGeom>
          <a:solidFill>
            <a:srgbClr val="F5F5F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457200" y="3840480"/>
            <a:ext cx="5577840" cy="50292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640080" y="384048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服務範圍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40080" y="4407408"/>
            <a:ext cx="52120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1 建立 AI 共同認識（36.5H）＋ Phase 2 部門 AI 應用上路（104H）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00800" y="3840480"/>
            <a:ext cx="5577840" cy="2148840"/>
          </a:xfrm>
          <a:prstGeom prst="rect">
            <a:avLst/>
          </a:prstGeom>
          <a:solidFill>
            <a:srgbClr val="F5F5F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6400800" y="3840480"/>
            <a:ext cx="5577840" cy="50292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6583680" y="384048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顧問投入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583680" y="4407408"/>
            <a:ext cx="52120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140.5 H（主顧問 + 顧問團隊）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3 廠內知識數位化、Phase 4 組織自轉屬另案規劃，本案不含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338560" y="656539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35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91440" cy="685800"/>
          </a:xfrm>
          <a:prstGeom prst="rect">
            <a:avLst/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85800" y="347472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服務內容五大模組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850392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Service Modules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698480" y="1828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10698480" y="182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155680" y="20116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智谷網絡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155680" y="402336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Since 1996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280160"/>
            <a:ext cx="2194560" cy="5303520"/>
          </a:xfrm>
          <a:prstGeom prst="rect">
            <a:avLst/>
          </a:prstGeom>
          <a:solidFill>
            <a:srgbClr val="F5F5F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274320" y="1280160"/>
            <a:ext cx="2194560" cy="822960"/>
          </a:xfrm>
          <a:prstGeom prst="rect">
            <a:avLst/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274320" y="129844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65760" y="169164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培訓課程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2395728"/>
            <a:ext cx="109728" cy="109728"/>
          </a:xfrm>
          <a:prstGeom prst="ellipse">
            <a:avLst/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566928" y="228600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A1 高階主管 AI 演講（2H）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054096"/>
            <a:ext cx="109728" cy="109728"/>
          </a:xfrm>
          <a:prstGeom prst="ellipse">
            <a:avLst/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566928" y="2944368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A2 AIGC 陪你飛（3H）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1480" y="3712464"/>
            <a:ext cx="109728" cy="109728"/>
          </a:xfrm>
          <a:prstGeom prst="ellipse">
            <a:avLst/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566928" y="3602736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A3 AI 指令工作術（6H）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11480" y="4370832"/>
            <a:ext cx="109728" cy="109728"/>
          </a:xfrm>
          <a:prstGeom prst="ellipse">
            <a:avLst/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566928" y="4261104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A4 主管課（4H）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11480" y="5029200"/>
            <a:ext cx="109728" cy="109728"/>
          </a:xfrm>
          <a:prstGeom prst="ellipse">
            <a:avLst/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566928" y="4919472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A5 種子實戰課（12H）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624328" y="1280160"/>
            <a:ext cx="2194560" cy="5303520"/>
          </a:xfrm>
          <a:prstGeom prst="rect">
            <a:avLst/>
          </a:prstGeom>
          <a:solidFill>
            <a:srgbClr val="F5F5F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2"/>
          <p:cNvSpPr/>
          <p:nvPr/>
        </p:nvSpPr>
        <p:spPr>
          <a:xfrm>
            <a:off x="2624328" y="1280160"/>
            <a:ext cx="2194560" cy="822960"/>
          </a:xfrm>
          <a:prstGeom prst="rect">
            <a:avLst/>
          </a:prstGeom>
          <a:solidFill>
            <a:srgbClr val="F09C2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2624328" y="129844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2715768" y="169164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組織診斷與啟動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761488" y="2395728"/>
            <a:ext cx="109728" cy="109728"/>
          </a:xfrm>
          <a:prstGeom prst="ellipse">
            <a:avLst/>
          </a:prstGeom>
          <a:solidFill>
            <a:srgbClr val="F09C2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6"/>
          <p:cNvSpPr/>
          <p:nvPr/>
        </p:nvSpPr>
        <p:spPr>
          <a:xfrm>
            <a:off x="2916936" y="228600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B1 最高主管說明會（1H）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761488" y="3054096"/>
            <a:ext cx="109728" cy="109728"/>
          </a:xfrm>
          <a:prstGeom prst="ellipse">
            <a:avLst/>
          </a:prstGeom>
          <a:solidFill>
            <a:srgbClr val="F09C2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8"/>
          <p:cNvSpPr/>
          <p:nvPr/>
        </p:nvSpPr>
        <p:spPr>
          <a:xfrm>
            <a:off x="2916936" y="2944368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B2 主管策略共識工作坊（3.5H）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761488" y="3712464"/>
            <a:ext cx="109728" cy="109728"/>
          </a:xfrm>
          <a:prstGeom prst="ellipse">
            <a:avLst/>
          </a:prstGeom>
          <a:solidFill>
            <a:srgbClr val="F09C2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2" name="Text 30"/>
          <p:cNvSpPr/>
          <p:nvPr/>
        </p:nvSpPr>
        <p:spPr>
          <a:xfrm>
            <a:off x="2916936" y="3602736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B3 先鋒單位需求訪談 × 8場（8H）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761488" y="4370832"/>
            <a:ext cx="109728" cy="109728"/>
          </a:xfrm>
          <a:prstGeom prst="ellipse">
            <a:avLst/>
          </a:prstGeom>
          <a:solidFill>
            <a:srgbClr val="F09C2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4" name="Text 32"/>
          <p:cNvSpPr/>
          <p:nvPr/>
        </p:nvSpPr>
        <p:spPr>
          <a:xfrm>
            <a:off x="2916936" y="4261104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B4 種子挑選辦法設計（3H）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974336" y="1280160"/>
            <a:ext cx="2194560" cy="5303520"/>
          </a:xfrm>
          <a:prstGeom prst="rect">
            <a:avLst/>
          </a:prstGeom>
          <a:solidFill>
            <a:srgbClr val="F5F5F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6" name="Shape 34"/>
          <p:cNvSpPr/>
          <p:nvPr/>
        </p:nvSpPr>
        <p:spPr>
          <a:xfrm>
            <a:off x="4974336" y="1280160"/>
            <a:ext cx="2194560" cy="822960"/>
          </a:xfrm>
          <a:prstGeom prst="rect">
            <a:avLst/>
          </a:prstGeom>
          <a:solidFill>
            <a:srgbClr val="3F7FB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7" name="Text 35"/>
          <p:cNvSpPr/>
          <p:nvPr/>
        </p:nvSpPr>
        <p:spPr>
          <a:xfrm>
            <a:off x="4974336" y="129844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5065776" y="169164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部門推動陪跑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111496" y="2395728"/>
            <a:ext cx="109728" cy="109728"/>
          </a:xfrm>
          <a:prstGeom prst="ellipse">
            <a:avLst/>
          </a:prstGeom>
          <a:solidFill>
            <a:srgbClr val="3F7FB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0" name="Text 38"/>
          <p:cNvSpPr/>
          <p:nvPr/>
        </p:nvSpPr>
        <p:spPr>
          <a:xfrm>
            <a:off x="5266944" y="228600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C1 部門 Workout 雙週支援 × 16場（64H）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111496" y="3054096"/>
            <a:ext cx="109728" cy="109728"/>
          </a:xfrm>
          <a:prstGeom prst="ellipse">
            <a:avLst/>
          </a:prstGeom>
          <a:solidFill>
            <a:srgbClr val="3F7FB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2" name="Text 40"/>
          <p:cNvSpPr/>
          <p:nvPr/>
        </p:nvSpPr>
        <p:spPr>
          <a:xfrm>
            <a:off x="5266944" y="2944368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C2 GRD 計分卡 + 委員會章程（4H）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111496" y="3712464"/>
            <a:ext cx="109728" cy="109728"/>
          </a:xfrm>
          <a:prstGeom prst="ellipse">
            <a:avLst/>
          </a:prstGeom>
          <a:solidFill>
            <a:srgbClr val="3F7FB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4" name="Text 42"/>
          <p:cNvSpPr/>
          <p:nvPr/>
        </p:nvSpPr>
        <p:spPr>
          <a:xfrm>
            <a:off x="5266944" y="3602736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C3 Workout 議程設計（4H）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7324344" y="1280160"/>
            <a:ext cx="2194560" cy="5303520"/>
          </a:xfrm>
          <a:prstGeom prst="rect">
            <a:avLst/>
          </a:prstGeom>
          <a:solidFill>
            <a:srgbClr val="F5F5F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6" name="Shape 44"/>
          <p:cNvSpPr/>
          <p:nvPr/>
        </p:nvSpPr>
        <p:spPr>
          <a:xfrm>
            <a:off x="7324344" y="1280160"/>
            <a:ext cx="2194560" cy="822960"/>
          </a:xfrm>
          <a:prstGeom prst="rect">
            <a:avLst/>
          </a:prstGeom>
          <a:solidFill>
            <a:srgbClr val="E91E6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7" name="Text 45"/>
          <p:cNvSpPr/>
          <p:nvPr/>
        </p:nvSpPr>
        <p:spPr>
          <a:xfrm>
            <a:off x="7324344" y="129844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200" dirty="0"/>
          </a:p>
        </p:txBody>
      </p:sp>
      <p:sp>
        <p:nvSpPr>
          <p:cNvPr id="48" name="Text 46"/>
          <p:cNvSpPr/>
          <p:nvPr/>
        </p:nvSpPr>
        <p:spPr>
          <a:xfrm>
            <a:off x="7415784" y="169164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文化建設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7461504" y="2395728"/>
            <a:ext cx="109728" cy="109728"/>
          </a:xfrm>
          <a:prstGeom prst="ellipse">
            <a:avLst/>
          </a:prstGeom>
          <a:solidFill>
            <a:srgbClr val="E91E6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0" name="Text 48"/>
          <p:cNvSpPr/>
          <p:nvPr/>
        </p:nvSpPr>
        <p:spPr>
          <a:xfrm>
            <a:off x="7616952" y="228600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D1 第一波創作大賽（評審 + 頒獎，2H）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7461504" y="3054096"/>
            <a:ext cx="109728" cy="109728"/>
          </a:xfrm>
          <a:prstGeom prst="ellipse">
            <a:avLst/>
          </a:prstGeom>
          <a:solidFill>
            <a:srgbClr val="E91E6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2" name="Text 50"/>
          <p:cNvSpPr/>
          <p:nvPr/>
        </p:nvSpPr>
        <p:spPr>
          <a:xfrm>
            <a:off x="7616952" y="2944368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D2 第二波應用提案大賽（2H）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9674352" y="1280160"/>
            <a:ext cx="2194560" cy="5303520"/>
          </a:xfrm>
          <a:prstGeom prst="rect">
            <a:avLst/>
          </a:prstGeom>
          <a:solidFill>
            <a:srgbClr val="F5F5F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4" name="Shape 52"/>
          <p:cNvSpPr/>
          <p:nvPr/>
        </p:nvSpPr>
        <p:spPr>
          <a:xfrm>
            <a:off x="9674352" y="1280160"/>
            <a:ext cx="2194560" cy="822960"/>
          </a:xfrm>
          <a:prstGeom prst="rect">
            <a:avLst/>
          </a:prstGeom>
          <a:solidFill>
            <a:srgbClr val="88888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5" name="Text 53"/>
          <p:cNvSpPr/>
          <p:nvPr/>
        </p:nvSpPr>
        <p:spPr>
          <a:xfrm>
            <a:off x="9674352" y="129844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2200" dirty="0"/>
          </a:p>
        </p:txBody>
      </p:sp>
      <p:sp>
        <p:nvSpPr>
          <p:cNvPr id="56" name="Text 54"/>
          <p:cNvSpPr/>
          <p:nvPr/>
        </p:nvSpPr>
        <p:spPr>
          <a:xfrm>
            <a:off x="9765792" y="169164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結案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9811512" y="2395728"/>
            <a:ext cx="109728" cy="109728"/>
          </a:xfrm>
          <a:prstGeom prst="ellipse">
            <a:avLst/>
          </a:prstGeom>
          <a:solidFill>
            <a:srgbClr val="88888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8" name="Text 56"/>
          <p:cNvSpPr/>
          <p:nvPr/>
        </p:nvSpPr>
        <p:spPr>
          <a:xfrm>
            <a:off x="9966960" y="228600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E1 Phase 2 末總結報告（4H）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9811512" y="3054096"/>
            <a:ext cx="109728" cy="109728"/>
          </a:xfrm>
          <a:prstGeom prst="ellipse">
            <a:avLst/>
          </a:prstGeom>
          <a:solidFill>
            <a:srgbClr val="88888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0" name="Text 58"/>
          <p:cNvSpPr/>
          <p:nvPr/>
        </p:nvSpPr>
        <p:spPr>
          <a:xfrm>
            <a:off x="9966960" y="2944368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E2 延伸方向建議書（2H）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11338560" y="656539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35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C4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 AI 共同認識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601200" y="640080"/>
            <a:ext cx="2286000" cy="502920"/>
          </a:xfrm>
          <a:prstGeom prst="roundRect">
            <a:avLst>
              <a:gd name="adj" fmla="val 14545"/>
            </a:avLst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9601200" y="6400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顧問投入 36.5 H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5943600"/>
            <a:ext cx="10972800" cy="0"/>
          </a:xfrm>
          <a:prstGeom prst="line">
            <a:avLst/>
          </a:prstGeom>
          <a:noFill/>
          <a:ln w="19050">
            <a:solidFill>
              <a:srgbClr val="55556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AAA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約第 1 – 4 月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1554480"/>
            <a:ext cx="2057400" cy="1737360"/>
          </a:xfrm>
          <a:prstGeom prst="roundRect">
            <a:avLst>
              <a:gd name="adj" fmla="val 6316"/>
            </a:avLst>
          </a:prstGeom>
          <a:solidFill>
            <a:srgbClr val="22223A"/>
          </a:solidFill>
          <a:ln w="19050">
            <a:solidFill>
              <a:srgbClr val="F09C2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640080" y="1554480"/>
            <a:ext cx="2057400" cy="347472"/>
          </a:xfrm>
          <a:prstGeom prst="rect">
            <a:avLst/>
          </a:prstGeom>
          <a:solidFill>
            <a:srgbClr val="F09C2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640080" y="155448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49808" y="1938528"/>
            <a:ext cx="183794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最高主管說明會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40080" y="292608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9C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1H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834640" y="1554480"/>
            <a:ext cx="2057400" cy="1737360"/>
          </a:xfrm>
          <a:prstGeom prst="roundRect">
            <a:avLst>
              <a:gd name="adj" fmla="val 6316"/>
            </a:avLst>
          </a:prstGeom>
          <a:solidFill>
            <a:srgbClr val="22223A"/>
          </a:solidFill>
          <a:ln w="19050">
            <a:solidFill>
              <a:srgbClr val="C4D6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2834640" y="1554480"/>
            <a:ext cx="2057400" cy="347472"/>
          </a:xfrm>
          <a:prstGeom prst="rect">
            <a:avLst/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2834640" y="155448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944368" y="1938528"/>
            <a:ext cx="183794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高階主管 AI 演講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2834640" y="292608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4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2H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0" y="1554480"/>
            <a:ext cx="2057400" cy="1737360"/>
          </a:xfrm>
          <a:prstGeom prst="roundRect">
            <a:avLst>
              <a:gd name="adj" fmla="val 6316"/>
            </a:avLst>
          </a:prstGeom>
          <a:solidFill>
            <a:srgbClr val="22223A"/>
          </a:solidFill>
          <a:ln w="19050">
            <a:solidFill>
              <a:srgbClr val="F09C2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8"/>
          <p:cNvSpPr/>
          <p:nvPr/>
        </p:nvSpPr>
        <p:spPr>
          <a:xfrm>
            <a:off x="5029200" y="1554480"/>
            <a:ext cx="2057400" cy="347472"/>
          </a:xfrm>
          <a:prstGeom prst="rect">
            <a:avLst/>
          </a:prstGeom>
          <a:solidFill>
            <a:srgbClr val="F09C2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5029200" y="155448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138928" y="1938528"/>
            <a:ext cx="183794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主管策略共識工作坊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029200" y="292608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9C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3.5H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223760" y="1554480"/>
            <a:ext cx="2057400" cy="1737360"/>
          </a:xfrm>
          <a:prstGeom prst="roundRect">
            <a:avLst>
              <a:gd name="adj" fmla="val 6316"/>
            </a:avLst>
          </a:prstGeom>
          <a:solidFill>
            <a:srgbClr val="22223A"/>
          </a:solidFill>
          <a:ln w="19050">
            <a:solidFill>
              <a:srgbClr val="F09C2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3"/>
          <p:cNvSpPr/>
          <p:nvPr/>
        </p:nvSpPr>
        <p:spPr>
          <a:xfrm>
            <a:off x="7223760" y="1554480"/>
            <a:ext cx="2057400" cy="347472"/>
          </a:xfrm>
          <a:prstGeom prst="rect">
            <a:avLst/>
          </a:prstGeom>
          <a:solidFill>
            <a:srgbClr val="F09C2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7223760" y="155448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B3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333488" y="1938528"/>
            <a:ext cx="183794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先鋒單位需求訪談 ×8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223760" y="292608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9C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8H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418320" y="1554480"/>
            <a:ext cx="2057400" cy="1737360"/>
          </a:xfrm>
          <a:prstGeom prst="roundRect">
            <a:avLst>
              <a:gd name="adj" fmla="val 6316"/>
            </a:avLst>
          </a:prstGeom>
          <a:solidFill>
            <a:srgbClr val="22223A"/>
          </a:solidFill>
          <a:ln w="19050">
            <a:solidFill>
              <a:srgbClr val="F09C2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Shape 28"/>
          <p:cNvSpPr/>
          <p:nvPr/>
        </p:nvSpPr>
        <p:spPr>
          <a:xfrm>
            <a:off x="9418320" y="1554480"/>
            <a:ext cx="2057400" cy="347472"/>
          </a:xfrm>
          <a:prstGeom prst="rect">
            <a:avLst/>
          </a:prstGeom>
          <a:solidFill>
            <a:srgbClr val="F09C2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9"/>
          <p:cNvSpPr/>
          <p:nvPr/>
        </p:nvSpPr>
        <p:spPr>
          <a:xfrm>
            <a:off x="9418320" y="155448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B4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528048" y="1938528"/>
            <a:ext cx="183794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種子挑選辦法設計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418320" y="292608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9C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3H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40080" y="3749040"/>
            <a:ext cx="2057400" cy="1737360"/>
          </a:xfrm>
          <a:prstGeom prst="roundRect">
            <a:avLst>
              <a:gd name="adj" fmla="val 6316"/>
            </a:avLst>
          </a:prstGeom>
          <a:solidFill>
            <a:srgbClr val="22223A"/>
          </a:solidFill>
          <a:ln w="19050">
            <a:solidFill>
              <a:srgbClr val="C4D6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Shape 33"/>
          <p:cNvSpPr/>
          <p:nvPr/>
        </p:nvSpPr>
        <p:spPr>
          <a:xfrm>
            <a:off x="640080" y="3749040"/>
            <a:ext cx="2057400" cy="347472"/>
          </a:xfrm>
          <a:prstGeom prst="rect">
            <a:avLst/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6" name="Text 34"/>
          <p:cNvSpPr/>
          <p:nvPr/>
        </p:nvSpPr>
        <p:spPr>
          <a:xfrm>
            <a:off x="640080" y="374904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49808" y="4133088"/>
            <a:ext cx="183794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AIGC 陪你飛（全員）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40080" y="512064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4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3H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2834640" y="3749040"/>
            <a:ext cx="2057400" cy="1737360"/>
          </a:xfrm>
          <a:prstGeom prst="roundRect">
            <a:avLst>
              <a:gd name="adj" fmla="val 6316"/>
            </a:avLst>
          </a:prstGeom>
          <a:solidFill>
            <a:srgbClr val="22223A"/>
          </a:solidFill>
          <a:ln w="19050">
            <a:solidFill>
              <a:srgbClr val="C4D6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" name="Shape 38"/>
          <p:cNvSpPr/>
          <p:nvPr/>
        </p:nvSpPr>
        <p:spPr>
          <a:xfrm>
            <a:off x="2834640" y="3749040"/>
            <a:ext cx="2057400" cy="347472"/>
          </a:xfrm>
          <a:prstGeom prst="rect">
            <a:avLst/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1" name="Text 39"/>
          <p:cNvSpPr/>
          <p:nvPr/>
        </p:nvSpPr>
        <p:spPr>
          <a:xfrm>
            <a:off x="2834640" y="374904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A3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2944368" y="4133088"/>
            <a:ext cx="183794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指令工作術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2834640" y="512064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4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6H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029200" y="3749040"/>
            <a:ext cx="2057400" cy="1737360"/>
          </a:xfrm>
          <a:prstGeom prst="roundRect">
            <a:avLst>
              <a:gd name="adj" fmla="val 6316"/>
            </a:avLst>
          </a:prstGeom>
          <a:solidFill>
            <a:srgbClr val="22223A"/>
          </a:solidFill>
          <a:ln w="19050">
            <a:solidFill>
              <a:srgbClr val="3F7FB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5" name="Shape 43"/>
          <p:cNvSpPr/>
          <p:nvPr/>
        </p:nvSpPr>
        <p:spPr>
          <a:xfrm>
            <a:off x="5029200" y="3749040"/>
            <a:ext cx="2057400" cy="347472"/>
          </a:xfrm>
          <a:prstGeom prst="rect">
            <a:avLst/>
          </a:prstGeom>
          <a:solidFill>
            <a:srgbClr val="3F7FB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6" name="Text 44"/>
          <p:cNvSpPr/>
          <p:nvPr/>
        </p:nvSpPr>
        <p:spPr>
          <a:xfrm>
            <a:off x="5029200" y="374904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D1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138928" y="4133088"/>
            <a:ext cx="183794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第一波創作大賽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029200" y="512064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F7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2H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7223760" y="3749040"/>
            <a:ext cx="2057400" cy="1737360"/>
          </a:xfrm>
          <a:prstGeom prst="roundRect">
            <a:avLst>
              <a:gd name="adj" fmla="val 6316"/>
            </a:avLst>
          </a:prstGeom>
          <a:solidFill>
            <a:srgbClr val="22223A"/>
          </a:solidFill>
          <a:ln w="19050">
            <a:solidFill>
              <a:srgbClr val="F09C2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0" name="Shape 48"/>
          <p:cNvSpPr/>
          <p:nvPr/>
        </p:nvSpPr>
        <p:spPr>
          <a:xfrm>
            <a:off x="7223760" y="3749040"/>
            <a:ext cx="2057400" cy="347472"/>
          </a:xfrm>
          <a:prstGeom prst="rect">
            <a:avLst/>
          </a:prstGeom>
          <a:solidFill>
            <a:srgbClr val="F09C2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1" name="Text 49"/>
          <p:cNvSpPr/>
          <p:nvPr/>
        </p:nvSpPr>
        <p:spPr>
          <a:xfrm>
            <a:off x="7223760" y="374904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月×4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7333488" y="4133088"/>
            <a:ext cx="183794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月度進度會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7223760" y="512064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9C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8H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10698480" y="1828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5" name="Text 53"/>
          <p:cNvSpPr/>
          <p:nvPr/>
        </p:nvSpPr>
        <p:spPr>
          <a:xfrm>
            <a:off x="10698480" y="182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2200" dirty="0"/>
          </a:p>
        </p:txBody>
      </p:sp>
      <p:sp>
        <p:nvSpPr>
          <p:cNvPr id="56" name="Text 54"/>
          <p:cNvSpPr/>
          <p:nvPr/>
        </p:nvSpPr>
        <p:spPr>
          <a:xfrm>
            <a:off x="11155680" y="20116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智谷網絡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11155680" y="402336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Since 1996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1338560" y="656539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35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部門 AI 應用上路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601200" y="640080"/>
            <a:ext cx="2286000" cy="502920"/>
          </a:xfrm>
          <a:prstGeom prst="roundRect">
            <a:avLst>
              <a:gd name="adj" fmla="val 14545"/>
            </a:avLst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9601200" y="6400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顧問投入 104 H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5943600"/>
            <a:ext cx="10972800" cy="0"/>
          </a:xfrm>
          <a:prstGeom prst="line">
            <a:avLst/>
          </a:prstGeom>
          <a:noFill/>
          <a:ln w="19050">
            <a:solidFill>
              <a:srgbClr val="55556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AAA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約第 5 – 12 月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1554480"/>
            <a:ext cx="2560320" cy="1737360"/>
          </a:xfrm>
          <a:prstGeom prst="roundRect">
            <a:avLst>
              <a:gd name="adj" fmla="val 6316"/>
            </a:avLst>
          </a:prstGeom>
          <a:solidFill>
            <a:srgbClr val="22223A"/>
          </a:solidFill>
          <a:ln w="19050">
            <a:solidFill>
              <a:srgbClr val="C4D6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640080" y="1554480"/>
            <a:ext cx="2560320" cy="347472"/>
          </a:xfrm>
          <a:prstGeom prst="rect">
            <a:avLst/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640080" y="15544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A4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49808" y="1938528"/>
            <a:ext cx="234086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主管課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29260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4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4H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383280" y="1554480"/>
            <a:ext cx="2560320" cy="1737360"/>
          </a:xfrm>
          <a:prstGeom prst="roundRect">
            <a:avLst>
              <a:gd name="adj" fmla="val 6316"/>
            </a:avLst>
          </a:prstGeom>
          <a:solidFill>
            <a:srgbClr val="22223A"/>
          </a:solidFill>
          <a:ln w="19050">
            <a:solidFill>
              <a:srgbClr val="C4D6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3383280" y="1554480"/>
            <a:ext cx="2560320" cy="347472"/>
          </a:xfrm>
          <a:prstGeom prst="rect">
            <a:avLst/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3383280" y="15544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93008" y="1938528"/>
            <a:ext cx="234086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種子實戰課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83280" y="29260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4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12H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1554480"/>
            <a:ext cx="2560320" cy="1737360"/>
          </a:xfrm>
          <a:prstGeom prst="roundRect">
            <a:avLst>
              <a:gd name="adj" fmla="val 6316"/>
            </a:avLst>
          </a:prstGeom>
          <a:solidFill>
            <a:srgbClr val="22223A"/>
          </a:solidFill>
          <a:ln w="19050">
            <a:solidFill>
              <a:srgbClr val="F09C2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8"/>
          <p:cNvSpPr/>
          <p:nvPr/>
        </p:nvSpPr>
        <p:spPr>
          <a:xfrm>
            <a:off x="6126480" y="1554480"/>
            <a:ext cx="2560320" cy="347472"/>
          </a:xfrm>
          <a:prstGeom prst="rect">
            <a:avLst/>
          </a:prstGeom>
          <a:solidFill>
            <a:srgbClr val="F09C2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6126480" y="15544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36208" y="1938528"/>
            <a:ext cx="234086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GRD + 委員會章程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26480" y="29260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9C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4H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869680" y="1554480"/>
            <a:ext cx="2560320" cy="1737360"/>
          </a:xfrm>
          <a:prstGeom prst="roundRect">
            <a:avLst>
              <a:gd name="adj" fmla="val 6316"/>
            </a:avLst>
          </a:prstGeom>
          <a:solidFill>
            <a:srgbClr val="22223A"/>
          </a:solidFill>
          <a:ln w="19050">
            <a:solidFill>
              <a:srgbClr val="F09C2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3"/>
          <p:cNvSpPr/>
          <p:nvPr/>
        </p:nvSpPr>
        <p:spPr>
          <a:xfrm>
            <a:off x="8869680" y="1554480"/>
            <a:ext cx="2560320" cy="347472"/>
          </a:xfrm>
          <a:prstGeom prst="rect">
            <a:avLst/>
          </a:prstGeom>
          <a:solidFill>
            <a:srgbClr val="F09C2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8869680" y="15544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C3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979408" y="1938528"/>
            <a:ext cx="234086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Workout 議程設計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869680" y="29260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9C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4H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" y="3749040"/>
            <a:ext cx="2560320" cy="1737360"/>
          </a:xfrm>
          <a:prstGeom prst="roundRect">
            <a:avLst>
              <a:gd name="adj" fmla="val 6316"/>
            </a:avLst>
          </a:prstGeom>
          <a:solidFill>
            <a:srgbClr val="22223A"/>
          </a:solidFill>
          <a:ln w="19050">
            <a:solidFill>
              <a:srgbClr val="F09C2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Shape 28"/>
          <p:cNvSpPr/>
          <p:nvPr/>
        </p:nvSpPr>
        <p:spPr>
          <a:xfrm>
            <a:off x="640080" y="3749040"/>
            <a:ext cx="2560320" cy="347472"/>
          </a:xfrm>
          <a:prstGeom prst="rect">
            <a:avLst/>
          </a:prstGeom>
          <a:solidFill>
            <a:srgbClr val="F09C2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9"/>
          <p:cNvSpPr/>
          <p:nvPr/>
        </p:nvSpPr>
        <p:spPr>
          <a:xfrm>
            <a:off x="640080" y="37490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49808" y="4133088"/>
            <a:ext cx="234086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部門 Workout ×16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0080" y="51206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9C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64H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383280" y="3749040"/>
            <a:ext cx="2560320" cy="1737360"/>
          </a:xfrm>
          <a:prstGeom prst="roundRect">
            <a:avLst>
              <a:gd name="adj" fmla="val 6316"/>
            </a:avLst>
          </a:prstGeom>
          <a:solidFill>
            <a:srgbClr val="22223A"/>
          </a:solidFill>
          <a:ln w="19050">
            <a:solidFill>
              <a:srgbClr val="3F7FB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Shape 33"/>
          <p:cNvSpPr/>
          <p:nvPr/>
        </p:nvSpPr>
        <p:spPr>
          <a:xfrm>
            <a:off x="3383280" y="3749040"/>
            <a:ext cx="2560320" cy="347472"/>
          </a:xfrm>
          <a:prstGeom prst="rect">
            <a:avLst/>
          </a:prstGeom>
          <a:solidFill>
            <a:srgbClr val="3F7FB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6" name="Text 34"/>
          <p:cNvSpPr/>
          <p:nvPr/>
        </p:nvSpPr>
        <p:spPr>
          <a:xfrm>
            <a:off x="3383280" y="37490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D2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493008" y="4133088"/>
            <a:ext cx="234086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第二波提案大賽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383280" y="51206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F7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2H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126480" y="3749040"/>
            <a:ext cx="2560320" cy="1737360"/>
          </a:xfrm>
          <a:prstGeom prst="roundRect">
            <a:avLst>
              <a:gd name="adj" fmla="val 6316"/>
            </a:avLst>
          </a:prstGeom>
          <a:solidFill>
            <a:srgbClr val="22223A"/>
          </a:solidFill>
          <a:ln w="19050">
            <a:solidFill>
              <a:srgbClr val="F09C2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" name="Shape 38"/>
          <p:cNvSpPr/>
          <p:nvPr/>
        </p:nvSpPr>
        <p:spPr>
          <a:xfrm>
            <a:off x="6126480" y="3749040"/>
            <a:ext cx="2560320" cy="347472"/>
          </a:xfrm>
          <a:prstGeom prst="rect">
            <a:avLst/>
          </a:prstGeom>
          <a:solidFill>
            <a:srgbClr val="F09C2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1" name="Text 39"/>
          <p:cNvSpPr/>
          <p:nvPr/>
        </p:nvSpPr>
        <p:spPr>
          <a:xfrm>
            <a:off x="6126480" y="37490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月×8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236208" y="4133088"/>
            <a:ext cx="234086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月度進度會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126480" y="51206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9C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8H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8869680" y="3749040"/>
            <a:ext cx="2560320" cy="1737360"/>
          </a:xfrm>
          <a:prstGeom prst="roundRect">
            <a:avLst>
              <a:gd name="adj" fmla="val 6316"/>
            </a:avLst>
          </a:prstGeom>
          <a:solidFill>
            <a:srgbClr val="22223A"/>
          </a:solidFill>
          <a:ln w="19050">
            <a:solidFill>
              <a:srgbClr val="F09C2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5" name="Shape 43"/>
          <p:cNvSpPr/>
          <p:nvPr/>
        </p:nvSpPr>
        <p:spPr>
          <a:xfrm>
            <a:off x="8869680" y="3749040"/>
            <a:ext cx="2560320" cy="347472"/>
          </a:xfrm>
          <a:prstGeom prst="rect">
            <a:avLst/>
          </a:prstGeom>
          <a:solidFill>
            <a:srgbClr val="F09C2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6" name="Text 44"/>
          <p:cNvSpPr/>
          <p:nvPr/>
        </p:nvSpPr>
        <p:spPr>
          <a:xfrm>
            <a:off x="8869680" y="37490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E1+E2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8979408" y="4133088"/>
            <a:ext cx="234086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總結報告 + 建議書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8869680" y="51206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9C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6H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10698480" y="1828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0" name="Text 48"/>
          <p:cNvSpPr/>
          <p:nvPr/>
        </p:nvSpPr>
        <p:spPr>
          <a:xfrm>
            <a:off x="10698480" y="182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2200" dirty="0"/>
          </a:p>
        </p:txBody>
      </p:sp>
      <p:sp>
        <p:nvSpPr>
          <p:cNvPr id="51" name="Text 49"/>
          <p:cNvSpPr/>
          <p:nvPr/>
        </p:nvSpPr>
        <p:spPr>
          <a:xfrm>
            <a:off x="11155680" y="20116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智谷網絡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11155680" y="402336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Since 1996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1338560" y="656539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35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91440" cy="685800"/>
          </a:xfrm>
          <a:prstGeom prst="rect">
            <a:avLst/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85800" y="347472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種子三角小隊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850392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Triangle Team — Phase 2 核心引擎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058400" y="5029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0698480" y="1828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10698480" y="182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155680" y="20116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智谷網絡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155680" y="402336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Since 1996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12984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2 啟動時，每個推動部門組成「種子三角小隊」作為 AI 改善的執行單位。三方角色明確、權責互補。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212080" y="1783080"/>
            <a:ext cx="2743200" cy="2743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5212080" y="21488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部門主管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212080" y="2651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Owner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12080" y="29718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拍板推動方向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提供資源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 KPI 負責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28800" y="4114800"/>
            <a:ext cx="2743200" cy="2743200"/>
          </a:xfrm>
          <a:prstGeom prst="ellipse">
            <a:avLst/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1828800" y="44805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種子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828800" y="49834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828800" y="53035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主持 Workout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 GRD 推進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跨部門協作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595360" y="4114800"/>
            <a:ext cx="2743200" cy="2743200"/>
          </a:xfrm>
          <a:prstGeom prst="ellipse">
            <a:avLst/>
          </a:prstGeom>
          <a:solidFill>
            <a:srgbClr val="F09C2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8595360" y="44805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IT 後援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595360" y="49834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595360" y="53035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工具選型支援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技術疑難排除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地端工具建置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00400" y="2697480"/>
            <a:ext cx="2011680" cy="1417320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2"/>
          <p:cNvSpPr/>
          <p:nvPr/>
        </p:nvSpPr>
        <p:spPr>
          <a:xfrm flipH="1">
            <a:off x="7040880" y="2697480"/>
            <a:ext cx="2011680" cy="1417320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3"/>
          <p:cNvSpPr/>
          <p:nvPr/>
        </p:nvSpPr>
        <p:spPr>
          <a:xfrm>
            <a:off x="3657600" y="5029200"/>
            <a:ext cx="4937760" cy="0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24"/>
          <p:cNvSpPr/>
          <p:nvPr/>
        </p:nvSpPr>
        <p:spPr>
          <a:xfrm>
            <a:off x="5120640" y="5120640"/>
            <a:ext cx="19202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/>
          <p:nvPr/>
        </p:nvSpPr>
        <p:spPr>
          <a:xfrm>
            <a:off x="5120640" y="5120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每雙週 Workout 協同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為什麼是「三角」？AI 改善必涉及部門權力（主管）、執行細節（種子）、技術可行性（IT），三方缺一不可。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338560" y="656539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/ 35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91440" cy="685800"/>
          </a:xfrm>
          <a:prstGeom prst="rect">
            <a:avLst/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85800" y="347472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GRD 計分卡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850392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Results &amp; Direction — 每個 AI 改善案的追蹤單位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058400" y="5029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0698480" y="1828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10698480" y="182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155680" y="20116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智谷網絡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155680" y="402336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Since 1996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1298448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2 啟動時，每個改善案建立一張 GRD，七欄位明確定義目標與責任，直到結案。</a:t>
            </a:r>
            <a:endParaRPr lang="en-US" sz="14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5524846"/>
              </p:ext>
            </p:extLst>
          </p:nvPr>
        </p:nvGraphicFramePr>
        <p:xfrm>
          <a:off x="457200" y="1737360"/>
          <a:ext cx="5303520" cy="36576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欄位</a:t>
                      </a:r>
                      <a:endParaRPr lang="en-US" sz="1600" dirty="0">
                        <a:solidFill>
                          <a:schemeClr val="bg1"/>
                        </a:solidFill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定義</a:t>
                      </a:r>
                      <a:endParaRPr lang="en-US" sz="1600" dirty="0">
                        <a:solidFill>
                          <a:schemeClr val="bg1"/>
                        </a:solidFill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題目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要解決的問題（一句話）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KPI（衡量指標）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用什麼數字衡量改善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目標值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達到什麼程度才算成功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時程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何時達成（通常三個月內）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三角小隊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主管 / 種子 / IT 後援三人具名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工具與資源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用什麼 AI 工具、需要什麼資料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阻力與對策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預期障礙 + 因應方式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5943600" y="1719072"/>
            <a:ext cx="5760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範例｜採購部 GRD 計分卡</a:t>
            </a:r>
            <a:endParaRPr lang="en-US" sz="1600" dirty="0"/>
          </a:p>
        </p:txBody>
      </p:sp>
      <p:graphicFrame>
        <p:nvGraphicFramePr>
          <p:cNvPr id="5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2148840"/>
          <a:ext cx="5760720" cy="36576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A1A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欄位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9C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A1A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內容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9C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題目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供應商報價彙整自動化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KPI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比價時數 / 單筆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目標值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4H / 單 → 1H / 單（縮短 75%）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時程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Phase 2 啟動後三個月達成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三角小隊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採購主管：張經理 | 種子：王專員 | IT：李工程師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工具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Claude Projects + Gemini Workspace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阻力對策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供應商格式不一 → 建統一收件範本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員工不信任 AI → 第一月與人工並行驗證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11338560" y="656539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/ 35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91440" cy="685800"/>
          </a:xfrm>
          <a:prstGeom prst="rect">
            <a:avLst/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85800" y="347472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Workout 運作節奏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850392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Biweekly Workout Rhythm — C1 模組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058400" y="5029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0698480" y="1828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10698480" y="182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155680" y="20116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智谷網絡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155680" y="402336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Since 1996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1298448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部門 Workout 由客戶自己開，顧問每雙週列席指導（4H/場 × 16 場 = 64H）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828800"/>
            <a:ext cx="2720340" cy="50292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457200" y="1828800"/>
            <a:ext cx="27203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1 週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268980" y="1828800"/>
            <a:ext cx="2720340" cy="50292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3268980" y="1828800"/>
            <a:ext cx="27203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2 週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080760" y="1828800"/>
            <a:ext cx="2720340" cy="50292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6080760" y="1828800"/>
            <a:ext cx="27203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3 週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892540" y="1828800"/>
            <a:ext cx="2720340" cy="50292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8892540" y="1828800"/>
            <a:ext cx="27203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4 週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2423160"/>
            <a:ext cx="2720340" cy="1097280"/>
          </a:xfrm>
          <a:prstGeom prst="rect">
            <a:avLst/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457200" y="2423160"/>
            <a:ext cx="27203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雙週 Workout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顧問列席 4H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080760" y="2423160"/>
            <a:ext cx="2720340" cy="1097280"/>
          </a:xfrm>
          <a:prstGeom prst="rect">
            <a:avLst/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6080760" y="2423160"/>
            <a:ext cx="27203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雙週 Workout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顧問列席 4H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268980" y="2423160"/>
            <a:ext cx="2720340" cy="1097280"/>
          </a:xfrm>
          <a:prstGeom prst="rect">
            <a:avLst/>
          </a:prstGeom>
          <a:solidFill>
            <a:srgbClr val="F5F5F7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/>
          <p:nvPr/>
        </p:nvSpPr>
        <p:spPr>
          <a:xfrm>
            <a:off x="3268980" y="2423160"/>
            <a:ext cx="27203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日常工作推進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（無顧問）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892540" y="2423160"/>
            <a:ext cx="2720340" cy="1097280"/>
          </a:xfrm>
          <a:prstGeom prst="rect">
            <a:avLst/>
          </a:prstGeom>
          <a:solidFill>
            <a:srgbClr val="F5F5F7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8892540" y="2423160"/>
            <a:ext cx="27203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日常工作推進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（無顧問）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892540" y="3611880"/>
            <a:ext cx="2720340" cy="64008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6"/>
          <p:cNvSpPr/>
          <p:nvPr/>
        </p:nvSpPr>
        <p:spPr>
          <a:xfrm>
            <a:off x="8892540" y="3611880"/>
            <a:ext cx="27203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月度 GRD Review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高階主管列席（合併第 4 週發表）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389120"/>
            <a:ext cx="11247120" cy="594360"/>
          </a:xfrm>
          <a:prstGeom prst="rect">
            <a:avLst/>
          </a:prstGeom>
          <a:solidFill>
            <a:srgbClr val="F5F5F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0" name="Shape 28"/>
          <p:cNvSpPr/>
          <p:nvPr/>
        </p:nvSpPr>
        <p:spPr>
          <a:xfrm>
            <a:off x="457200" y="4480560"/>
            <a:ext cx="91440" cy="411480"/>
          </a:xfrm>
          <a:prstGeom prst="rect">
            <a:avLst/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9"/>
          <p:cNvSpPr/>
          <p:nvPr/>
        </p:nvSpPr>
        <p:spPr>
          <a:xfrm>
            <a:off x="685800" y="438912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客戶自己開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3017520" y="438912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顧問不主持、不代推動，Workout 是合興自己的會議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57200" y="5074920"/>
            <a:ext cx="1124712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4" name="Shape 32"/>
          <p:cNvSpPr/>
          <p:nvPr/>
        </p:nvSpPr>
        <p:spPr>
          <a:xfrm>
            <a:off x="457200" y="5166360"/>
            <a:ext cx="91440" cy="411480"/>
          </a:xfrm>
          <a:prstGeom prst="rect">
            <a:avLst/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5" name="Text 33"/>
          <p:cNvSpPr/>
          <p:nvPr/>
        </p:nvSpPr>
        <p:spPr>
          <a:xfrm>
            <a:off x="685800" y="507492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顧問列席指導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3017520" y="507492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每雙週 4H 顧問到場，協助種子解決卡關問題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457200" y="5760720"/>
            <a:ext cx="11247120" cy="594360"/>
          </a:xfrm>
          <a:prstGeom prst="rect">
            <a:avLst/>
          </a:prstGeom>
          <a:solidFill>
            <a:srgbClr val="F5F5F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8" name="Shape 36"/>
          <p:cNvSpPr/>
          <p:nvPr/>
        </p:nvSpPr>
        <p:spPr>
          <a:xfrm>
            <a:off x="457200" y="5852160"/>
            <a:ext cx="91440" cy="411480"/>
          </a:xfrm>
          <a:prstGeom prst="rect">
            <a:avLst/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9" name="Text 37"/>
          <p:cNvSpPr/>
          <p:nvPr/>
        </p:nvSpPr>
        <p:spPr>
          <a:xfrm>
            <a:off x="685800" y="576072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月度 GRD Review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3017520" y="576072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雙週第二場發表會合併月度高階檢視，不另開會議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11338560" y="656539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/ 35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91440" cy="685800"/>
          </a:xfrm>
          <a:prstGeom prst="rect">
            <a:avLst/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85800" y="347472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諮詢中的能力評鑑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850392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Assessment During Consulting — 方案二獨有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698480" y="1828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10698480" y="182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155680" y="20116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智谷網絡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155680" y="402336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Since 1996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298448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方案二在三階段測評基礎上，諮詢輔導期間額外加入動態評鑑，讓主管與顧問隨時掌握種子部門的能力進展。</a:t>
            </a:r>
            <a:endParaRPr lang="en-US" sz="15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11247120" cy="310896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A1A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階段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A1A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評鑑形式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A1A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用途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 模組診斷期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B3 先鋒單位訪談中加入個別能力觀察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選種子前的人才預判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Phase 2 Workout 過程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顧問雙週列席時觀察種子帶領能力 + 部門 AI 改善案推進力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即時調整輔導重點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Phase 2 末組織評鑑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全員 AI 能力後測 + 個人能力檔案 + 部門集體能力雷達圖對照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證明組織級進步、HR 育才依據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457200" y="4937760"/>
            <a:ext cx="11247120" cy="502920"/>
          </a:xfrm>
          <a:prstGeom prst="rect">
            <a:avLst/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9"/>
          <p:cNvSpPr/>
          <p:nvPr/>
        </p:nvSpPr>
        <p:spPr>
          <a:xfrm>
            <a:off x="640080" y="49377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評鑑成果文件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40080" y="5696712"/>
            <a:ext cx="118872" cy="118872"/>
          </a:xfrm>
          <a:prstGeom prst="ellipse">
            <a:avLst/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1"/>
          <p:cNvSpPr/>
          <p:nvPr/>
        </p:nvSpPr>
        <p:spPr>
          <a:xfrm>
            <a:off x="841248" y="557784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個人 AI 能力檔案（每位先鋒同仁一份，前測 / 後測對照）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40080" y="5989320"/>
            <a:ext cx="118872" cy="118872"/>
          </a:xfrm>
          <a:prstGeom prst="ellipse">
            <a:avLst/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3"/>
          <p:cNvSpPr/>
          <p:nvPr/>
        </p:nvSpPr>
        <p:spPr>
          <a:xfrm>
            <a:off x="841248" y="58704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種子能力評鑑報告（含主持力 / GRD 推進力 / 跨部門協作力）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40080" y="6281928"/>
            <a:ext cx="118872" cy="118872"/>
          </a:xfrm>
          <a:prstGeom prst="ellipse">
            <a:avLst/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5"/>
          <p:cNvSpPr/>
          <p:nvPr/>
        </p:nvSpPr>
        <p:spPr>
          <a:xfrm>
            <a:off x="841248" y="6163056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部門集體能力雷達圖（五大能力 × L1–L6 層次）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評鑑結果僅供合興 HR 與委員會內部決策使用，不對外公開。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1338560" y="656539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/ 35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2286000"/>
          </a:xfrm>
          <a:prstGeom prst="rtTriangle">
            <a:avLst/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 flipH="1" flipV="1">
            <a:off x="9905695" y="4572000"/>
            <a:ext cx="2286000" cy="2286000"/>
          </a:xfrm>
          <a:prstGeom prst="rtTriangle">
            <a:avLst/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1371600" y="210312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0" b="1" dirty="0">
                <a:solidFill>
                  <a:srgbClr val="C4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Ch.6</a:t>
            </a:r>
            <a:endParaRPr lang="en-US" sz="160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智谷三大實戰教具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Proprietary Training Tools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71600" y="4572000"/>
            <a:ext cx="3657600" cy="0"/>
          </a:xfrm>
          <a:prstGeom prst="line">
            <a:avLst/>
          </a:prstGeom>
          <a:noFill/>
          <a:ln w="25400">
            <a:solidFill>
              <a:srgbClr val="C4D6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1371600" y="47548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十年自主研發 · 業界獨有 · 貫穿培訓與陪跑全程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0698480" y="1828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10698480" y="182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155680" y="20116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智谷網絡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155680" y="402336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Since 1996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338560" y="656539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/ 35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12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4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Capability Cards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AA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17 張能力卡 + 阻力卡 · 智谷自主研發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698480" y="1828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10698480" y="182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155680" y="20116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智谷網絡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155680" y="402336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Since 1996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097280"/>
            <a:ext cx="1691640" cy="1600200"/>
          </a:xfrm>
          <a:prstGeom prst="roundRect">
            <a:avLst>
              <a:gd name="adj" fmla="val 5714"/>
            </a:avLst>
          </a:prstGeom>
          <a:solidFill>
            <a:srgbClr val="22223A"/>
          </a:solidFill>
          <a:ln w="19050">
            <a:solidFill>
              <a:srgbClr val="C4D6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457200" y="1097280"/>
            <a:ext cx="1691640" cy="411480"/>
          </a:xfrm>
          <a:prstGeom prst="rect">
            <a:avLst/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457200" y="109728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1554480"/>
            <a:ext cx="1508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抽取資訊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331720" y="1097280"/>
            <a:ext cx="1691640" cy="1600200"/>
          </a:xfrm>
          <a:prstGeom prst="roundRect">
            <a:avLst>
              <a:gd name="adj" fmla="val 5714"/>
            </a:avLst>
          </a:prstGeom>
          <a:solidFill>
            <a:srgbClr val="22223A"/>
          </a:solidFill>
          <a:ln w="19050">
            <a:solidFill>
              <a:srgbClr val="F09C2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2331720" y="1097280"/>
            <a:ext cx="1691640" cy="411480"/>
          </a:xfrm>
          <a:prstGeom prst="rect">
            <a:avLst/>
          </a:prstGeom>
          <a:solidFill>
            <a:srgbClr val="F09C2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2331720" y="109728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423160" y="1554480"/>
            <a:ext cx="1508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生成文字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206240" y="1097280"/>
            <a:ext cx="1691640" cy="1600200"/>
          </a:xfrm>
          <a:prstGeom prst="roundRect">
            <a:avLst>
              <a:gd name="adj" fmla="val 5714"/>
            </a:avLst>
          </a:prstGeom>
          <a:solidFill>
            <a:srgbClr val="22223A"/>
          </a:solidFill>
          <a:ln w="19050">
            <a:solidFill>
              <a:srgbClr val="3F7FB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4206240" y="1097280"/>
            <a:ext cx="1691640" cy="411480"/>
          </a:xfrm>
          <a:prstGeom prst="rect">
            <a:avLst/>
          </a:prstGeom>
          <a:solidFill>
            <a:srgbClr val="3F7FB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4206240" y="109728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297680" y="1554480"/>
            <a:ext cx="1508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語音轉文字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080760" y="1097280"/>
            <a:ext cx="1691640" cy="1600200"/>
          </a:xfrm>
          <a:prstGeom prst="roundRect">
            <a:avLst>
              <a:gd name="adj" fmla="val 5714"/>
            </a:avLst>
          </a:prstGeom>
          <a:solidFill>
            <a:srgbClr val="22223A"/>
          </a:solidFill>
          <a:ln w="19050">
            <a:solidFill>
              <a:srgbClr val="E91E6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6080760" y="1097280"/>
            <a:ext cx="1691640" cy="411480"/>
          </a:xfrm>
          <a:prstGeom prst="rect">
            <a:avLst/>
          </a:prstGeom>
          <a:solidFill>
            <a:srgbClr val="E91E6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6080760" y="109728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172200" y="1554480"/>
            <a:ext cx="1508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自動分類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955280" y="1097280"/>
            <a:ext cx="1691640" cy="1600200"/>
          </a:xfrm>
          <a:prstGeom prst="roundRect">
            <a:avLst>
              <a:gd name="adj" fmla="val 5714"/>
            </a:avLst>
          </a:prstGeom>
          <a:solidFill>
            <a:srgbClr val="22223A"/>
          </a:solidFill>
          <a:ln w="1905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24"/>
          <p:cNvSpPr/>
          <p:nvPr/>
        </p:nvSpPr>
        <p:spPr>
          <a:xfrm>
            <a:off x="7955280" y="1097280"/>
            <a:ext cx="1691640" cy="41148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/>
          <p:nvPr/>
        </p:nvSpPr>
        <p:spPr>
          <a:xfrm>
            <a:off x="7955280" y="109728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046720" y="1554480"/>
            <a:ext cx="1508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預測趨勢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9829800" y="1097280"/>
            <a:ext cx="1691640" cy="1600200"/>
          </a:xfrm>
          <a:prstGeom prst="roundRect">
            <a:avLst>
              <a:gd name="adj" fmla="val 5714"/>
            </a:avLst>
          </a:prstGeom>
          <a:solidFill>
            <a:srgbClr val="22223A"/>
          </a:solidFill>
          <a:ln w="19050">
            <a:solidFill>
              <a:srgbClr val="C4D6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Shape 28"/>
          <p:cNvSpPr/>
          <p:nvPr/>
        </p:nvSpPr>
        <p:spPr>
          <a:xfrm>
            <a:off x="9829800" y="1097280"/>
            <a:ext cx="1691640" cy="411480"/>
          </a:xfrm>
          <a:prstGeom prst="rect">
            <a:avLst/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9"/>
          <p:cNvSpPr/>
          <p:nvPr/>
        </p:nvSpPr>
        <p:spPr>
          <a:xfrm>
            <a:off x="9829800" y="109728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Patrol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921240" y="1554480"/>
            <a:ext cx="1508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異常偵測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57200" y="2926080"/>
            <a:ext cx="1691640" cy="1600200"/>
          </a:xfrm>
          <a:prstGeom prst="roundRect">
            <a:avLst>
              <a:gd name="adj" fmla="val 5714"/>
            </a:avLst>
          </a:prstGeom>
          <a:solidFill>
            <a:srgbClr val="22223A"/>
          </a:solidFill>
          <a:ln w="19050">
            <a:solidFill>
              <a:srgbClr val="F09C2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Shape 32"/>
          <p:cNvSpPr/>
          <p:nvPr/>
        </p:nvSpPr>
        <p:spPr>
          <a:xfrm>
            <a:off x="457200" y="2926080"/>
            <a:ext cx="1691640" cy="411480"/>
          </a:xfrm>
          <a:prstGeom prst="rect">
            <a:avLst/>
          </a:prstGeom>
          <a:solidFill>
            <a:srgbClr val="F09C2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5" name="Text 33"/>
          <p:cNvSpPr/>
          <p:nvPr/>
        </p:nvSpPr>
        <p:spPr>
          <a:xfrm>
            <a:off x="457200" y="292608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48640" y="3383280"/>
            <a:ext cx="1508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搜尋整理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2331720" y="2926080"/>
            <a:ext cx="1691640" cy="1600200"/>
          </a:xfrm>
          <a:prstGeom prst="roundRect">
            <a:avLst>
              <a:gd name="adj" fmla="val 5714"/>
            </a:avLst>
          </a:prstGeom>
          <a:solidFill>
            <a:srgbClr val="22223A"/>
          </a:solidFill>
          <a:ln w="19050">
            <a:solidFill>
              <a:srgbClr val="3F7FB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Shape 36"/>
          <p:cNvSpPr/>
          <p:nvPr/>
        </p:nvSpPr>
        <p:spPr>
          <a:xfrm>
            <a:off x="2331720" y="2926080"/>
            <a:ext cx="1691640" cy="411480"/>
          </a:xfrm>
          <a:prstGeom prst="rect">
            <a:avLst/>
          </a:prstGeom>
          <a:solidFill>
            <a:srgbClr val="3F7FB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9" name="Text 37"/>
          <p:cNvSpPr/>
          <p:nvPr/>
        </p:nvSpPr>
        <p:spPr>
          <a:xfrm>
            <a:off x="2331720" y="292608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2423160" y="3383280"/>
            <a:ext cx="1508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記憶脈絡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4206240" y="2926080"/>
            <a:ext cx="1691640" cy="1600200"/>
          </a:xfrm>
          <a:prstGeom prst="roundRect">
            <a:avLst>
              <a:gd name="adj" fmla="val 5714"/>
            </a:avLst>
          </a:prstGeom>
          <a:solidFill>
            <a:srgbClr val="22223A"/>
          </a:solidFill>
          <a:ln w="19050">
            <a:solidFill>
              <a:srgbClr val="E91E6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" name="Shape 40"/>
          <p:cNvSpPr/>
          <p:nvPr/>
        </p:nvSpPr>
        <p:spPr>
          <a:xfrm>
            <a:off x="4206240" y="2926080"/>
            <a:ext cx="1691640" cy="411480"/>
          </a:xfrm>
          <a:prstGeom prst="rect">
            <a:avLst/>
          </a:prstGeom>
          <a:solidFill>
            <a:srgbClr val="E91E6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3" name="Text 41"/>
          <p:cNvSpPr/>
          <p:nvPr/>
        </p:nvSpPr>
        <p:spPr>
          <a:xfrm>
            <a:off x="4206240" y="292608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297680" y="3383280"/>
            <a:ext cx="1508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結構化儲存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6080760" y="2926080"/>
            <a:ext cx="1691640" cy="1600200"/>
          </a:xfrm>
          <a:prstGeom prst="roundRect">
            <a:avLst>
              <a:gd name="adj" fmla="val 5714"/>
            </a:avLst>
          </a:prstGeom>
          <a:solidFill>
            <a:srgbClr val="22223A"/>
          </a:solidFill>
          <a:ln w="1905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6" name="Shape 44"/>
          <p:cNvSpPr/>
          <p:nvPr/>
        </p:nvSpPr>
        <p:spPr>
          <a:xfrm>
            <a:off x="6080760" y="2926080"/>
            <a:ext cx="1691640" cy="41148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7" name="Text 45"/>
          <p:cNvSpPr/>
          <p:nvPr/>
        </p:nvSpPr>
        <p:spPr>
          <a:xfrm>
            <a:off x="6080760" y="292608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6172200" y="3383280"/>
            <a:ext cx="1508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格式轉換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7955280" y="2926080"/>
            <a:ext cx="1691640" cy="1600200"/>
          </a:xfrm>
          <a:prstGeom prst="roundRect">
            <a:avLst>
              <a:gd name="adj" fmla="val 5714"/>
            </a:avLst>
          </a:prstGeom>
          <a:solidFill>
            <a:srgbClr val="22223A"/>
          </a:solidFill>
          <a:ln w="19050">
            <a:solidFill>
              <a:srgbClr val="C4D6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0" name="Shape 48"/>
          <p:cNvSpPr/>
          <p:nvPr/>
        </p:nvSpPr>
        <p:spPr>
          <a:xfrm>
            <a:off x="7955280" y="2926080"/>
            <a:ext cx="1691640" cy="411480"/>
          </a:xfrm>
          <a:prstGeom prst="rect">
            <a:avLst/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1" name="Text 49"/>
          <p:cNvSpPr/>
          <p:nvPr/>
        </p:nvSpPr>
        <p:spPr>
          <a:xfrm>
            <a:off x="7955280" y="292608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8046720" y="3383280"/>
            <a:ext cx="1508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看懂圖像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9829800" y="2926080"/>
            <a:ext cx="1691640" cy="1600200"/>
          </a:xfrm>
          <a:prstGeom prst="roundRect">
            <a:avLst>
              <a:gd name="adj" fmla="val 5714"/>
            </a:avLst>
          </a:prstGeom>
          <a:solidFill>
            <a:srgbClr val="22223A"/>
          </a:solidFill>
          <a:ln w="19050">
            <a:solidFill>
              <a:srgbClr val="F09C2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4" name="Shape 52"/>
          <p:cNvSpPr/>
          <p:nvPr/>
        </p:nvSpPr>
        <p:spPr>
          <a:xfrm>
            <a:off x="9829800" y="2926080"/>
            <a:ext cx="1691640" cy="411480"/>
          </a:xfrm>
          <a:prstGeom prst="rect">
            <a:avLst/>
          </a:prstGeom>
          <a:solidFill>
            <a:srgbClr val="F09C2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5" name="Text 53"/>
          <p:cNvSpPr/>
          <p:nvPr/>
        </p:nvSpPr>
        <p:spPr>
          <a:xfrm>
            <a:off x="9829800" y="292608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9921240" y="3383280"/>
            <a:ext cx="1508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生成圖片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11612880" y="1481328"/>
            <a:ext cx="118872" cy="118872"/>
          </a:xfrm>
          <a:prstGeom prst="ellipse">
            <a:avLst/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8" name="Text 56"/>
          <p:cNvSpPr/>
          <p:nvPr/>
        </p:nvSpPr>
        <p:spPr>
          <a:xfrm>
            <a:off x="11795760" y="13716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出現於 A1 演講現場體驗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11612880" y="2075688"/>
            <a:ext cx="118872" cy="118872"/>
          </a:xfrm>
          <a:prstGeom prst="ellipse">
            <a:avLst/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0" name="Text 58"/>
          <p:cNvSpPr/>
          <p:nvPr/>
        </p:nvSpPr>
        <p:spPr>
          <a:xfrm>
            <a:off x="11795760" y="19659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出現於 A5 種子實戰課工作坊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11612880" y="2670048"/>
            <a:ext cx="118872" cy="118872"/>
          </a:xfrm>
          <a:prstGeom prst="ellipse">
            <a:avLst/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2" name="Text 60"/>
          <p:cNvSpPr/>
          <p:nvPr/>
        </p:nvSpPr>
        <p:spPr>
          <a:xfrm>
            <a:off x="11795760" y="25603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出現於 Phase 2 Workout 主持訓練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11612880" y="347472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9C2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阻力卡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11612880" y="3858768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BBB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對已發想題目進行壓力測試：資源 / 主管 / 資料 / 文化 / 技術五類阻力，提升題目落地性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11338560" y="656539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/ 35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12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9C2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Prompt 卡牌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AA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結構化指令設計 · 讓新手也能寫出穩定品質的 Prompt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698480" y="1828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10698480" y="182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155680" y="20116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智谷網絡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155680" y="402336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Since 1996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3566160" cy="2286000"/>
          </a:xfrm>
          <a:prstGeom prst="roundRect">
            <a:avLst>
              <a:gd name="adj" fmla="val 6000"/>
            </a:avLst>
          </a:prstGeom>
          <a:solidFill>
            <a:srgbClr val="22223A"/>
          </a:solidFill>
          <a:ln w="25400">
            <a:solidFill>
              <a:srgbClr val="C4D6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457200" y="1188720"/>
            <a:ext cx="3566160" cy="594360"/>
          </a:xfrm>
          <a:prstGeom prst="rect">
            <a:avLst/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457200" y="118872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角色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40080" y="192024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CCC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你是一位…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297680" y="1188720"/>
            <a:ext cx="3566160" cy="2286000"/>
          </a:xfrm>
          <a:prstGeom prst="roundRect">
            <a:avLst>
              <a:gd name="adj" fmla="val 6000"/>
            </a:avLst>
          </a:prstGeom>
          <a:solidFill>
            <a:srgbClr val="22223A"/>
          </a:solidFill>
          <a:ln w="25400">
            <a:solidFill>
              <a:srgbClr val="F09C2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4297680" y="1188720"/>
            <a:ext cx="3566160" cy="594360"/>
          </a:xfrm>
          <a:prstGeom prst="rect">
            <a:avLst/>
          </a:prstGeom>
          <a:solidFill>
            <a:srgbClr val="F09C2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4297680" y="118872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480560" y="192024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CCC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幫我做…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138160" y="1188720"/>
            <a:ext cx="3566160" cy="2286000"/>
          </a:xfrm>
          <a:prstGeom prst="roundRect">
            <a:avLst>
              <a:gd name="adj" fmla="val 6000"/>
            </a:avLst>
          </a:prstGeom>
          <a:solidFill>
            <a:srgbClr val="22223A"/>
          </a:solidFill>
          <a:ln w="25400">
            <a:solidFill>
              <a:srgbClr val="3F7FB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8138160" y="1188720"/>
            <a:ext cx="3566160" cy="594360"/>
          </a:xfrm>
          <a:prstGeom prst="rect">
            <a:avLst/>
          </a:prstGeom>
          <a:solidFill>
            <a:srgbClr val="3F7FB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8138160" y="118872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格式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321040" y="192024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CCC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以…格式呈現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57200" y="3749040"/>
            <a:ext cx="3566160" cy="2286000"/>
          </a:xfrm>
          <a:prstGeom prst="roundRect">
            <a:avLst>
              <a:gd name="adj" fmla="val 6000"/>
            </a:avLst>
          </a:prstGeom>
          <a:solidFill>
            <a:srgbClr val="22223A"/>
          </a:solidFill>
          <a:ln w="25400">
            <a:solidFill>
              <a:srgbClr val="E91E6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457200" y="3749040"/>
            <a:ext cx="3566160" cy="594360"/>
          </a:xfrm>
          <a:prstGeom prst="rect">
            <a:avLst/>
          </a:prstGeom>
          <a:solidFill>
            <a:srgbClr val="E91E6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457200" y="374904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語氣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40080" y="448056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CCC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語氣要…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4297680" y="3749040"/>
            <a:ext cx="3566160" cy="2286000"/>
          </a:xfrm>
          <a:prstGeom prst="roundRect">
            <a:avLst>
              <a:gd name="adj" fmla="val 6000"/>
            </a:avLst>
          </a:prstGeom>
          <a:solidFill>
            <a:srgbClr val="22223A"/>
          </a:solidFill>
          <a:ln w="254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24"/>
          <p:cNvSpPr/>
          <p:nvPr/>
        </p:nvSpPr>
        <p:spPr>
          <a:xfrm>
            <a:off x="4297680" y="3749040"/>
            <a:ext cx="3566160" cy="59436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/>
          <p:nvPr/>
        </p:nvSpPr>
        <p:spPr>
          <a:xfrm>
            <a:off x="4297680" y="374904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範例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480560" y="448056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CCC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參考範例…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8138160" y="3749040"/>
            <a:ext cx="3566160" cy="2286000"/>
          </a:xfrm>
          <a:prstGeom prst="roundRect">
            <a:avLst>
              <a:gd name="adj" fmla="val 6000"/>
            </a:avLst>
          </a:prstGeom>
          <a:solidFill>
            <a:srgbClr val="22223A"/>
          </a:solidFill>
          <a:ln w="254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Shape 28"/>
          <p:cNvSpPr/>
          <p:nvPr/>
        </p:nvSpPr>
        <p:spPr>
          <a:xfrm>
            <a:off x="8138160" y="3749040"/>
            <a:ext cx="3566160" cy="594360"/>
          </a:xfrm>
          <a:prstGeom prst="rect">
            <a:avLst/>
          </a:prstGeom>
          <a:solidFill>
            <a:srgbClr val="88888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9"/>
          <p:cNvSpPr/>
          <p:nvPr/>
        </p:nvSpPr>
        <p:spPr>
          <a:xfrm>
            <a:off x="8138160" y="374904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限制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8321040" y="448056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CCC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不要…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出現於 A3 AI 指令工作術 · A5 種子實戰課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1338560" y="656539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/ 35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12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F7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Make 工作流卡牌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AA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紙上流程推演 · 上機前先在桌上排邏輯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698480" y="1828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10698480" y="182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155680" y="20116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智谷網絡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155680" y="402336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Since 1996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2011680" cy="3657600"/>
          </a:xfrm>
          <a:prstGeom prst="roundRect">
            <a:avLst>
              <a:gd name="adj" fmla="val 5455"/>
            </a:avLst>
          </a:prstGeom>
          <a:solidFill>
            <a:srgbClr val="22223A"/>
          </a:solidFill>
          <a:ln w="19050">
            <a:solidFill>
              <a:srgbClr val="C4D6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457200" y="1188720"/>
            <a:ext cx="2011680" cy="548640"/>
          </a:xfrm>
          <a:prstGeom prst="rect">
            <a:avLst/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457200" y="11887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觸發器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192024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C4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548640" y="292608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BBB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設定自動化的觸發條件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BBBB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（新信件 / 表單送出 / 排程）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87168" y="274320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55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2743200" y="1188720"/>
            <a:ext cx="2011680" cy="3657600"/>
          </a:xfrm>
          <a:prstGeom prst="roundRect">
            <a:avLst>
              <a:gd name="adj" fmla="val 5455"/>
            </a:avLst>
          </a:prstGeom>
          <a:solidFill>
            <a:srgbClr val="22223A"/>
          </a:solidFill>
          <a:ln w="19050">
            <a:solidFill>
              <a:srgbClr val="F09C2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2743200" y="1188720"/>
            <a:ext cx="2011680" cy="548640"/>
          </a:xfrm>
          <a:prstGeom prst="rect">
            <a:avLst/>
          </a:prstGeom>
          <a:solidFill>
            <a:srgbClr val="F09C2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2743200" y="11887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動作節點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743200" y="192024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F09C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2834640" y="292608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BBB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對資料執行操作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BBBB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（讀取 / 轉換 / 發送）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73168" y="274320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55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5029200" y="1188720"/>
            <a:ext cx="2011680" cy="3657600"/>
          </a:xfrm>
          <a:prstGeom prst="roundRect">
            <a:avLst>
              <a:gd name="adj" fmla="val 5455"/>
            </a:avLst>
          </a:prstGeom>
          <a:solidFill>
            <a:srgbClr val="22223A"/>
          </a:solidFill>
          <a:ln w="19050">
            <a:solidFill>
              <a:srgbClr val="3F7FB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5029200" y="1188720"/>
            <a:ext cx="2011680" cy="548640"/>
          </a:xfrm>
          <a:prstGeom prst="rect">
            <a:avLst/>
          </a:prstGeom>
          <a:solidFill>
            <a:srgbClr val="3F7FB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5029200" y="11887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條件分支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029200" y="192024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3F7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◈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5120640" y="292608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BBB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If-then 邏輯判斷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BBBB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（依條件走不同路徑）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059168" y="274320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55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7315200" y="1188720"/>
            <a:ext cx="2011680" cy="3657600"/>
          </a:xfrm>
          <a:prstGeom prst="roundRect">
            <a:avLst>
              <a:gd name="adj" fmla="val 5455"/>
            </a:avLst>
          </a:prstGeom>
          <a:solidFill>
            <a:srgbClr val="22223A"/>
          </a:solidFill>
          <a:ln w="19050">
            <a:solidFill>
              <a:srgbClr val="E91E6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Shape 26"/>
          <p:cNvSpPr/>
          <p:nvPr/>
        </p:nvSpPr>
        <p:spPr>
          <a:xfrm>
            <a:off x="7315200" y="1188720"/>
            <a:ext cx="2011680" cy="548640"/>
          </a:xfrm>
          <a:prstGeom prst="rect">
            <a:avLst/>
          </a:prstGeom>
          <a:solidFill>
            <a:srgbClr val="E91E6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/>
          <p:nvPr/>
        </p:nvSpPr>
        <p:spPr>
          <a:xfrm>
            <a:off x="7315200" y="11887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資料轉換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315200" y="192024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⇄</a:t>
            </a:r>
            <a:endParaRPr lang="en-US" sz="3600" dirty="0"/>
          </a:p>
        </p:txBody>
      </p:sp>
      <p:sp>
        <p:nvSpPr>
          <p:cNvPr id="31" name="Text 29"/>
          <p:cNvSpPr/>
          <p:nvPr/>
        </p:nvSpPr>
        <p:spPr>
          <a:xfrm>
            <a:off x="7406640" y="292608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BBB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格式清洗與轉換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BBBB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（PDF → Text / 翻譯）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345168" y="274320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55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9601200" y="1188720"/>
            <a:ext cx="2011680" cy="3657600"/>
          </a:xfrm>
          <a:prstGeom prst="roundRect">
            <a:avLst>
              <a:gd name="adj" fmla="val 5455"/>
            </a:avLst>
          </a:prstGeom>
          <a:solidFill>
            <a:srgbClr val="22223A"/>
          </a:solidFill>
          <a:ln w="1905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Shape 32"/>
          <p:cNvSpPr/>
          <p:nvPr/>
        </p:nvSpPr>
        <p:spPr>
          <a:xfrm>
            <a:off x="9601200" y="1188720"/>
            <a:ext cx="2011680" cy="548640"/>
          </a:xfrm>
          <a:prstGeom prst="rect">
            <a:avLst/>
          </a:prstGeom>
          <a:solidFill>
            <a:srgbClr val="88888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5" name="Text 33"/>
          <p:cNvSpPr/>
          <p:nvPr/>
        </p:nvSpPr>
        <p:spPr>
          <a:xfrm>
            <a:off x="9601200" y="11887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終端輸出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9601200" y="192024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</a:t>
            </a:r>
            <a:endParaRPr lang="en-US" sz="3600" dirty="0"/>
          </a:p>
        </p:txBody>
      </p:sp>
      <p:sp>
        <p:nvSpPr>
          <p:cNvPr id="37" name="Text 35"/>
          <p:cNvSpPr/>
          <p:nvPr/>
        </p:nvSpPr>
        <p:spPr>
          <a:xfrm>
            <a:off x="9692640" y="292608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BBB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最終結果送出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BBBB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（Email / Sheet / 訊息）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57200" y="51206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AA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學員先在桌上用卡牌排出自動化流程邏輯，確認設計後再上機建置，大幅降低學習障礙。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57200" y="566928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D6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三大教具皆為智谷自主研發、十年積累，不是市場可買到的工具——這是合興導入後也能擁有的組織資產。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57200" y="62179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出現於 A5 種子實戰課（Phase 3 延伸課程）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1338560" y="656539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/ 35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2286000"/>
          </a:xfrm>
          <a:prstGeom prst="rtTriangle">
            <a:avLst/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 flipH="1" flipV="1">
            <a:off x="9905695" y="4572000"/>
            <a:ext cx="2286000" cy="2286000"/>
          </a:xfrm>
          <a:prstGeom prst="rtTriangle">
            <a:avLst/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1371600" y="210312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0" b="1" dirty="0">
                <a:solidFill>
                  <a:srgbClr val="C4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Ch.7</a:t>
            </a:r>
            <a:endParaRPr lang="en-US" sz="160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智谷 AI 實戰案例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Kvalley AI Case Studies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71600" y="4572000"/>
            <a:ext cx="3657600" cy="0"/>
          </a:xfrm>
          <a:prstGeom prst="line">
            <a:avLst/>
          </a:prstGeom>
          <a:noFill/>
          <a:ln w="25400">
            <a:solidFill>
              <a:srgbClr val="C4D6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1371600" y="47548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華城 · Acer · 商周 · 海柏特 · 台水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0698480" y="1828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10698480" y="182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155680" y="20116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智谷網絡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155680" y="402336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Since 1996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338560" y="656539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/ 35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91440" cy="685800"/>
          </a:xfrm>
          <a:prstGeom prst="rect">
            <a:avLst/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85800" y="347472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智谷 AI 實戰案例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850392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Track Record — AI Deployment Cases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698480" y="1828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10698480" y="182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155680" y="20116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智谷網絡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155680" y="402336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Since 1996</a:t>
            </a:r>
            <a:endParaRPr lang="en-US" sz="9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47120" cy="4498848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49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A1A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客戶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D6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A1A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產業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D6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A1A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時間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D6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A1A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案件內容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D6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A1A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與合興的關連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D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華城電機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製造業（合興同業）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2026-04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AI 引導師培訓計畫（Phase 1 實証）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同為製造業，最具參考價值的 AI 落地路徑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Acer 宏碁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電子業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2024-08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AIGC 啟航計畫（全員 AI 工具導入）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大規模全員啟蒙設計參考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商業周刊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媒體業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2026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AI 即戰力評測（180 人全員工作坊）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全員 AI 能力評鑑體系實際驗證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海柏特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連鎖服務業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2025-2026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服務 × AI 工作坊（跨門市場域）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跨部門 AI 推動機制設計參考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台灣自來水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國營事業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2025-11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知識管理講座（知識萃取與傳承）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知識萃取方法論實際驗證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11338560" y="656539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 / 35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0" cy="2743200"/>
          </a:xfrm>
          <a:prstGeom prst="rtTriangle">
            <a:avLst/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 flipH="1" flipV="1">
            <a:off x="9448495" y="4114800"/>
            <a:ext cx="2743200" cy="2743200"/>
          </a:xfrm>
          <a:prstGeom prst="rtTriangle">
            <a:avLst/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18288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謝謝您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8288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C4D6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期待與合興工業的合作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0" y="3429000"/>
            <a:ext cx="4876495" cy="0"/>
          </a:xfrm>
          <a:prstGeom prst="line">
            <a:avLst/>
          </a:prstGeom>
          <a:noFill/>
          <a:ln w="12700">
            <a:solidFill>
              <a:srgbClr val="44446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1828800" y="3566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AAA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智谷網絡｜亞太教育訓練網（Kvalley）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28800" y="3977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AAA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Jimmy Lin｜jimmy4lin@gmail.com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828800" y="43434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4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www.kvalley.biz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0698480" y="1828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C4D6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10698480" y="182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155680" y="20116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智谷網絡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155680" y="402336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Since 1996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2564</Words>
  <Application>Microsoft Macintosh PowerPoint</Application>
  <PresentationFormat>寬螢幕</PresentationFormat>
  <Paragraphs>891</Paragraphs>
  <Slides>35</Slides>
  <Notes>35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35</vt:i4>
      </vt:variant>
    </vt:vector>
  </HeadingPairs>
  <TitlesOfParts>
    <vt:vector size="38" baseType="lpstr">
      <vt:lpstr>Microsoft JhengHei</vt:lpstr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合興工業 AI 推動提案</dc:title>
  <dc:subject>PptxGenJS Presentation</dc:subject>
  <dc:creator>PptxGenJS</dc:creator>
  <cp:lastModifiedBy>林峻民</cp:lastModifiedBy>
  <cp:revision>3</cp:revision>
  <dcterms:created xsi:type="dcterms:W3CDTF">2026-05-07T04:16:20Z</dcterms:created>
  <dcterms:modified xsi:type="dcterms:W3CDTF">2026-05-07T04:22:52Z</dcterms:modified>
</cp:coreProperties>
</file>